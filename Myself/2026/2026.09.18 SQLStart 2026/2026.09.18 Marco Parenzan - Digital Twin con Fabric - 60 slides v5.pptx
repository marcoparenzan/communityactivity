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4" r:id="rId44"/>
    <p:sldId id="305" r:id="rId45"/>
    <p:sldId id="306" r:id="rId46"/>
    <p:sldId id="307" r:id="rId47"/>
    <p:sldId id="308" r:id="rId48"/>
    <p:sldId id="312" r:id="rId49"/>
    <p:sldId id="313" r:id="rId50"/>
    <p:sldId id="314" r:id="rId51"/>
    <p:sldId id="315" r:id="rId5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F1C602-C5E1-4847-AC50-C55C1733FFDA}">
          <p14:sldIdLst>
            <p14:sldId id="256"/>
            <p14:sldId id="257"/>
            <p14:sldId id="258"/>
          </p14:sldIdLst>
        </p14:section>
        <p14:section name="Untitled Section" id="{D360E89E-4DC2-43E5-BDB6-5A84F71CDD3F}">
          <p14:sldIdLst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  <p14:section name="Untitled Section" id="{CF0E8262-15C8-4DEB-B191-D169B3701EA9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Untitled Section" id="{72CEF99C-CE07-44AD-96D1-14A9A75EA4A0}">
          <p14:sldIdLst>
            <p14:sldId id="275"/>
            <p14:sldId id="276"/>
            <p14:sldId id="277"/>
            <p14:sldId id="278"/>
            <p14:sldId id="279"/>
            <p14:sldId id="281"/>
          </p14:sldIdLst>
        </p14:section>
        <p14:section name="Untitled Section" id="{C066185C-DA80-42CA-9430-491F07FB6322}">
          <p14:sldIdLst>
            <p14:sldId id="282"/>
            <p14:sldId id="283"/>
            <p14:sldId id="284"/>
          </p14:sldIdLst>
        </p14:section>
        <p14:section name="Untitled Section" id="{4A1DAC9A-E7E4-4691-A686-BC332FC7D807}">
          <p14:sldIdLst>
            <p14:sldId id="285"/>
            <p14:sldId id="286"/>
          </p14:sldIdLst>
        </p14:section>
        <p14:section name="Untitled Section" id="{3FB5B2CD-9FD9-4378-B4F0-74BFFCE702DD}">
          <p14:sldIdLst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Untitled Section" id="{2C8EFA93-9DF9-4FBC-B346-432688593DCC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Untitled Section" id="{44EA86F4-2FE0-48EC-929B-1DC7E83C21C1}">
          <p14:sldIdLst>
            <p14:sldId id="302"/>
            <p14:sldId id="304"/>
            <p14:sldId id="305"/>
            <p14:sldId id="306"/>
            <p14:sldId id="307"/>
            <p14:sldId id="308"/>
          </p14:sldIdLst>
        </p14:section>
        <p14:section name="Untitled Section" id="{92FADD04-0E7E-42AD-A62C-461DD1DAF0B6}">
          <p14:sldIdLst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arenzan" userId="a83bbb23f3e251dc" providerId="LiveId" clId="{5D234868-AD62-4683-8D45-4D00F848BDE7}"/>
    <pc:docChg chg="custSel delSld modSld sldOrd addSection modSection">
      <pc:chgData name="Marco Parenzan" userId="a83bbb23f3e251dc" providerId="LiveId" clId="{5D234868-AD62-4683-8D45-4D00F848BDE7}" dt="2026-09-18T10:48:29.135" v="28" actId="47"/>
      <pc:docMkLst>
        <pc:docMk/>
      </pc:docMkLst>
      <pc:sldChg chg="ord">
        <pc:chgData name="Marco Parenzan" userId="a83bbb23f3e251dc" providerId="LiveId" clId="{5D234868-AD62-4683-8D45-4D00F848BDE7}" dt="2026-09-18T10:46:52.817" v="16"/>
        <pc:sldMkLst>
          <pc:docMk/>
          <pc:sldMk cId="2581434288" sldId="266"/>
        </pc:sldMkLst>
      </pc:sldChg>
      <pc:sldChg chg="del">
        <pc:chgData name="Marco Parenzan" userId="a83bbb23f3e251dc" providerId="LiveId" clId="{5D234868-AD62-4683-8D45-4D00F848BDE7}" dt="2026-09-18T10:46:44.639" v="14" actId="47"/>
        <pc:sldMkLst>
          <pc:docMk/>
          <pc:sldMk cId="1130088059" sldId="267"/>
        </pc:sldMkLst>
      </pc:sldChg>
      <pc:sldChg chg="del">
        <pc:chgData name="Marco Parenzan" userId="a83bbb23f3e251dc" providerId="LiveId" clId="{5D234868-AD62-4683-8D45-4D00F848BDE7}" dt="2026-09-18T10:46:44.639" v="14" actId="47"/>
        <pc:sldMkLst>
          <pc:docMk/>
          <pc:sldMk cId="3568304426" sldId="268"/>
        </pc:sldMkLst>
      </pc:sldChg>
      <pc:sldChg chg="del">
        <pc:chgData name="Marco Parenzan" userId="a83bbb23f3e251dc" providerId="LiveId" clId="{5D234868-AD62-4683-8D45-4D00F848BDE7}" dt="2026-09-18T10:47:05.474" v="17" actId="47"/>
        <pc:sldMkLst>
          <pc:docMk/>
          <pc:sldMk cId="425101302" sldId="280"/>
        </pc:sldMkLst>
      </pc:sldChg>
      <pc:sldChg chg="del">
        <pc:chgData name="Marco Parenzan" userId="a83bbb23f3e251dc" providerId="LiveId" clId="{5D234868-AD62-4683-8D45-4D00F848BDE7}" dt="2026-09-18T10:47:47.022" v="22" actId="47"/>
        <pc:sldMkLst>
          <pc:docMk/>
          <pc:sldMk cId="1045319344" sldId="294"/>
        </pc:sldMkLst>
      </pc:sldChg>
      <pc:sldChg chg="del">
        <pc:chgData name="Marco Parenzan" userId="a83bbb23f3e251dc" providerId="LiveId" clId="{5D234868-AD62-4683-8D45-4D00F848BDE7}" dt="2026-09-18T10:47:47.022" v="22" actId="47"/>
        <pc:sldMkLst>
          <pc:docMk/>
          <pc:sldMk cId="3542429260" sldId="295"/>
        </pc:sldMkLst>
      </pc:sldChg>
      <pc:sldChg chg="del">
        <pc:chgData name="Marco Parenzan" userId="a83bbb23f3e251dc" providerId="LiveId" clId="{5D234868-AD62-4683-8D45-4D00F848BDE7}" dt="2026-09-18T10:48:02.578" v="23" actId="47"/>
        <pc:sldMkLst>
          <pc:docMk/>
          <pc:sldMk cId="924676766" sldId="303"/>
        </pc:sldMkLst>
      </pc:sldChg>
      <pc:sldChg chg="delSp modSp mod">
        <pc:chgData name="Marco Parenzan" userId="a83bbb23f3e251dc" providerId="LiveId" clId="{5D234868-AD62-4683-8D45-4D00F848BDE7}" dt="2026-09-18T10:48:13.797" v="25" actId="1076"/>
        <pc:sldMkLst>
          <pc:docMk/>
          <pc:sldMk cId="504011437" sldId="304"/>
        </pc:sldMkLst>
        <pc:spChg chg="del">
          <ac:chgData name="Marco Parenzan" userId="a83bbb23f3e251dc" providerId="LiveId" clId="{5D234868-AD62-4683-8D45-4D00F848BDE7}" dt="2026-09-18T10:48:07.984" v="24" actId="478"/>
          <ac:spMkLst>
            <pc:docMk/>
            <pc:sldMk cId="504011437" sldId="304"/>
            <ac:spMk id="8" creationId="{E74EF57B-8905-48CE-B49D-9E3E3966272C}"/>
          </ac:spMkLst>
        </pc:spChg>
        <pc:spChg chg="del">
          <ac:chgData name="Marco Parenzan" userId="a83bbb23f3e251dc" providerId="LiveId" clId="{5D234868-AD62-4683-8D45-4D00F848BDE7}" dt="2026-09-18T10:48:07.984" v="24" actId="478"/>
          <ac:spMkLst>
            <pc:docMk/>
            <pc:sldMk cId="504011437" sldId="304"/>
            <ac:spMk id="9" creationId="{E18870CB-306F-4C64-AE64-D9208981D229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1" creationId="{CE460601-14E7-46C6-96BE-64140E5A3689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2" creationId="{C9799BAE-95FF-4AE4-B6D7-792B1C02ED63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4" creationId="{BB3F60FC-FC3F-4FF6-9A22-1D1398234657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5" creationId="{1505FD4E-FECF-4BCE-AB66-96915B8FD7C7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7" creationId="{C0D372CC-934F-47C5-B42B-6122D54A7A9C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18" creationId="{3636EA88-A672-4663-A3DC-1EBF6FB68E4E}"/>
          </ac:spMkLst>
        </pc:spChg>
        <pc:spChg chg="mod">
          <ac:chgData name="Marco Parenzan" userId="a83bbb23f3e251dc" providerId="LiveId" clId="{5D234868-AD62-4683-8D45-4D00F848BDE7}" dt="2026-09-18T10:48:13.797" v="25" actId="1076"/>
          <ac:spMkLst>
            <pc:docMk/>
            <pc:sldMk cId="504011437" sldId="304"/>
            <ac:spMk id="20" creationId="{E02449E0-26CE-4065-8510-E04DD74E9D0B}"/>
          </ac:spMkLst>
        </pc:spChg>
      </pc:sldChg>
      <pc:sldChg chg="del">
        <pc:chgData name="Marco Parenzan" userId="a83bbb23f3e251dc" providerId="LiveId" clId="{5D234868-AD62-4683-8D45-4D00F848BDE7}" dt="2026-09-18T10:48:24.111" v="26" actId="47"/>
        <pc:sldMkLst>
          <pc:docMk/>
          <pc:sldMk cId="3869098861" sldId="309"/>
        </pc:sldMkLst>
      </pc:sldChg>
      <pc:sldChg chg="del">
        <pc:chgData name="Marco Parenzan" userId="a83bbb23f3e251dc" providerId="LiveId" clId="{5D234868-AD62-4683-8D45-4D00F848BDE7}" dt="2026-09-18T10:48:27.989" v="27" actId="47"/>
        <pc:sldMkLst>
          <pc:docMk/>
          <pc:sldMk cId="3148333646" sldId="310"/>
        </pc:sldMkLst>
      </pc:sldChg>
      <pc:sldChg chg="del">
        <pc:chgData name="Marco Parenzan" userId="a83bbb23f3e251dc" providerId="LiveId" clId="{5D234868-AD62-4683-8D45-4D00F848BDE7}" dt="2026-09-18T10:48:29.135" v="28" actId="47"/>
        <pc:sldMkLst>
          <pc:docMk/>
          <pc:sldMk cId="463202153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 in prima persona: sto esplorando la simulazione industriale. Non parto dai prodotti, ma dal desiderio di costruire un mondo piccolo, osservarlo e porgli domande verificabili.</a:t>
            </a:r>
          </a:p>
          <a:p>
            <a:r>
              <a:t>IndustrialSimExperiments: https://github.com/marcoparenzan/IndustrialSimExperiments</a:t>
            </a:r>
          </a:p>
          <a:p>
            <a:r>
              <a:t>Ontly: https://github.com/marcoparenzan/ontly</a:t>
            </a:r>
          </a:p>
          <a:p>
            <a:r>
              <a:t>PySharp: https://github.com/marcoparenzan/PySharp</a:t>
            </a:r>
          </a:p>
          <a:p>
            <a:r>
              <a:t>RalfAI: https://github.com/marcoparenzan/RalfAI</a:t>
            </a:r>
          </a:p>
          <a:p>
            <a:r>
              <a:t>TheMESThing: https://github.com/marcoparenzan/TheMESThing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PySharp definisce l'esperimento. Ontly definisce il contratto. Fabric conserva e contestualizza. Ralf conversa usando solo domande allow-listed ed evidenze.</a:t>
            </a:r>
          </a:p>
          <a:p>
            <a:endParaRPr/>
          </a:p>
          <a:p>
            <a:r>
              <a:t>Fonti: https://github.com/marcoparenzan/PySharp</a:t>
            </a:r>
          </a:p>
          <a:p>
            <a:r>
              <a:t>https://github.com/marcoparenzan/ontly</a:t>
            </a:r>
          </a:p>
          <a:p>
            <a:r>
              <a:t>https://github.com/marcoparenzan/RalfAI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Presentare questa sequenza come ampliamento del livello di astrazione, non come sostituzione di Azure IoT. Azure IoT collega e gestisce dispositivi ed edge. Fabric Real-Time Intelligence offre un percorso SaaS integrato per acquisire, conservare, interrogare, visualizzare e attivare azioni sui dati in movimento. Fabric IQ porta i dati nel linguaggio del business tramite ontologie, graph e agenti.</a:t>
            </a:r>
          </a:p>
          <a:p>
            <a:endParaRPr/>
          </a:p>
          <a:p>
            <a:r>
              <a:t>Fonti: https://learn.microsoft.com/en-us/azure/digital-twins/overview</a:t>
            </a:r>
          </a:p>
          <a:p>
            <a:r>
              <a:t>https://learn.microsoft.com/en-us/fabric/real-time-intelligence/</a:t>
            </a:r>
          </a:p>
          <a:p>
            <a:r>
              <a:t>https://learn.microsoft.com/en-us/fabric/real-time-intelligence/get-started-with-real-time-intelligence</a:t>
            </a:r>
          </a:p>
          <a:p>
            <a:r>
              <a:t>https://learn.microsoft.com/en-us/fabric/iq/get-started-with-fabric-iq</a:t>
            </a:r>
          </a:p>
          <a:p>
            <a:r>
              <a:t>https://learn.microsoft.com/en-us/microsoft-iq/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 scenario deve restare piccolo. Due motori e quattro package sono sufficienti per mostrare una relazione topologica molti-a-molti e una relazione temporale uno-a-uno per campione.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Queste sono domande diverse: semantica, topologia, stato e osservazioni temporali. Ontology e Digital Twin Builder sono item distinti. La query temporale correla dati di posizione e corrente; la stima individuale deriva dalla regola del simulatore. Fonti: https://learn.microsoft.com/en-us/fabric/iq/ontology/overview ; https://learn.microsoft.com/en-us/fabric/real-time-intelligence/digital-twin-builder/overview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picco</a:t>
            </a:r>
            <a:r>
              <a:rPr dirty="0"/>
              <a:t> </a:t>
            </a:r>
            <a:r>
              <a:rPr dirty="0" err="1"/>
              <a:t>totale</a:t>
            </a:r>
            <a:r>
              <a:rPr dirty="0"/>
              <a:t> </a:t>
            </a:r>
            <a:r>
              <a:rPr dirty="0" err="1"/>
              <a:t>osservato</a:t>
            </a:r>
            <a:r>
              <a:rPr dirty="0"/>
              <a:t> non </a:t>
            </a:r>
            <a:r>
              <a:rPr dirty="0" err="1"/>
              <a:t>identifica</a:t>
            </a:r>
            <a:r>
              <a:rPr dirty="0"/>
              <a:t> da solo il package. La </a:t>
            </a:r>
            <a:r>
              <a:rPr dirty="0" err="1"/>
              <a:t>domanda</a:t>
            </a:r>
            <a:r>
              <a:rPr dirty="0"/>
              <a:t> completa </a:t>
            </a:r>
            <a:r>
              <a:rPr dirty="0" err="1"/>
              <a:t>richiede</a:t>
            </a:r>
            <a:r>
              <a:rPr dirty="0"/>
              <a:t> </a:t>
            </a:r>
            <a:r>
              <a:rPr dirty="0" err="1"/>
              <a:t>posizione</a:t>
            </a:r>
            <a:r>
              <a:rPr dirty="0"/>
              <a:t>, zona </a:t>
            </a:r>
            <a:r>
              <a:rPr dirty="0" err="1"/>
              <a:t>motore</a:t>
            </a:r>
            <a:r>
              <a:rPr dirty="0"/>
              <a:t>, peso e </a:t>
            </a:r>
            <a:r>
              <a:rPr dirty="0" err="1"/>
              <a:t>evento</a:t>
            </a:r>
            <a:r>
              <a:rPr dirty="0"/>
              <a:t> di </a:t>
            </a:r>
            <a:r>
              <a:rPr dirty="0" err="1"/>
              <a:t>caricamento</a:t>
            </a:r>
            <a:r>
              <a:rPr dirty="0"/>
              <a:t>, tutti </a:t>
            </a:r>
            <a:r>
              <a:rPr dirty="0" err="1"/>
              <a:t>riferiti</a:t>
            </a:r>
            <a:r>
              <a:rPr dirty="0"/>
              <a:t> alla </a:t>
            </a:r>
            <a:r>
              <a:rPr dirty="0" err="1"/>
              <a:t>stessa</a:t>
            </a:r>
            <a:r>
              <a:rPr dirty="0"/>
              <a:t> </a:t>
            </a:r>
            <a:r>
              <a:rPr dirty="0" err="1"/>
              <a:t>corsa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complessità nasce dalle diverse granularità. Lʼobiettivo non è accumulare servizi, ma assegnare a ogni livello la domanda che sa risolvere.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Ogni riga risponde a una parte diversa della domanda. La dimostrazione è credibile solo se la risposta finale conserva RunId, timestamp, unità e provenienza.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Cambio di capitolo. Da questo punto si segue la sequenza degli script nella cartella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C01 è una entità stabile. La velocità è una serie temporale. Non confondere la proprietà nominale con la misura osservata.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zone sono master data. La corrente è una misura totale della zona. Un package a 10 m ha già lasciato il conveyor.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peso è master data. La posizione cambia a ogni tick. Il package corrente si determina con RunId e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T01 è unʼentità con master data. Il caricamento è un fatto business, non una proprietà temporale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 conclusione didattica: una Digital Twin solution nasce dalla separazione fra identità, contesto statico e osservazioni.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Cambio di capitolo. Da questo punto si segue la sequenza degli script nella cartella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L'origine concettuale è la domanda sull'essere. Aristotele descrive la prima filosofia come studio dell'essere in quanto essere. Il termine ontologia si consolida più tardi. Nell'ingegneria della conoscenza indica una specifica esplicita della concettualizzazione adottata.</a:t>
            </a:r>
          </a:p>
          <a:p>
            <a:endParaRPr/>
          </a:p>
          <a:p>
            <a:r>
              <a:t>Fonti: https://plato.stanford.edu/entries/aristotle-metaphysics/</a:t>
            </a:r>
          </a:p>
          <a:p>
            <a:r>
              <a:t>https://tomgruber.org/writing/definition-of-ontology.pdf</a:t>
            </a:r>
          </a:p>
          <a:p>
            <a:r>
              <a:t>https://www.w3.org/TR/owl-primer/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L'ontologia specifica il vocabolario e i vincoli del dominio. Un digital twin rappresenta una particolare istanza del modello e può essere collegato alle altre istanze in un twin graph. Nel progetto, mapping statici e temporali idratano le entità, mentre la contextualization crea relazioni operative.</a:t>
            </a:r>
          </a:p>
          <a:p>
            <a:endParaRPr/>
          </a:p>
          <a:p>
            <a:r>
              <a:t>Fonti: https://learn.microsoft.com/en-us/azure/digital-twins/concepts-twins-graph</a:t>
            </a:r>
          </a:p>
          <a:p>
            <a:r>
              <a:t>https://learn.microsoft.com/en-us/fabric/real-time-intelligence/digital-twin-builder/overview</a:t>
            </a:r>
          </a:p>
          <a:p>
            <a:r>
              <a:t>https://learn.microsoft.com/en-us/fabric/real-time-intelligence/digital-twin-builder/model-manage-mappings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producer invia telemetria ed eventi separati. La risposta richiede join sulla stessa corsa e sullo stesso timestamp, topologia delle zone, master data, evento di caricamento e distinzione osservato/stimato. PackageImpactByTruck prende il picco motor corrente associato al package durante il transito e lo collega al caricamento successivo. Fonte del caso: screenshot KQL Eventhouse del 16 settembre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e Digital Twin Builder non sono un prerequisito tecnico di PackageImpactByTruck. Sono stati introdotti per un catalogo più ampio di domande, esplorazione degli asset, relazioni e stato operativo. Il Lakehouse rende materializzati e riusabili PackageJourney, PackageLoadedOnTruck e PackageLatestLoad; Eventhouse conserva l osservazione temporale. Fonte: https://learn.microsoft.com/en-us/fabric/iq/ontology/overview ; https://learn.microsoft.com/en-us/fabric/real-time-intelligence/digital-twin-builder/overview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Eventhouse e Graph rispondono a domande diverse. Eventhouse lavora sul tempo; Graph rende esplicite le relazioni persistenti.</a:t>
            </a:r>
          </a:p>
          <a:p>
            <a:endParaRPr/>
          </a:p>
          <a:p>
            <a:r>
              <a:t>Fonti:</a:t>
            </a:r>
          </a:p>
          <a:p>
            <a:r>
              <a:t>https://learn.microsoft.com/en-us/fabric/iq/ontology/overview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Cambio di capitolo. Da questo punto si segue la sequenza degli script nella cartella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Pubblicare Eventstream soltanto dopo aver verificato source, filtri, destinazioni e mapping. La connection string SAS riguarda Event Hubs; lo Schema Registry usa Microsoft Entra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Eseguire 01-eventhouse.kql prima della corsa della demo. Le update policy elaborano i nuovi extent, quindi i dati vecchi non vengono retro-proiettati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questa parte chiarire che OneLake shortcut e tabelle materializzate hanno comportamenti di aggiornamento diversi.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relationship table contengono nella stessa riga le chiavi di entrambi gli endpoint. È esattamente ciò che richiede il binding dell'Ontology.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 ricostruire i passaggi effettuati nell'interfaccia Fabric e mostrare le query di controllo una per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Ontology è un item in preview. I binding trasformano righe e colonne in oggetti di business condivisi.</a:t>
            </a:r>
          </a:p>
          <a:p>
            <a:endParaRPr/>
          </a:p>
          <a:p>
            <a:r>
              <a:t>Fonti:</a:t>
            </a:r>
          </a:p>
          <a:p>
            <a:r>
              <a:t>https://learn.microsoft.com/en-us/fabric/iq/ontology/overview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LʼOntology non sostituisce i dati. Li rende leggibili attraverso concetti condivisi e governati.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drives e travelsOn sono topologia. loadedOn deriva dagli eventi e conserva la storia. Non creare affectedBy come edge persistente.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Graph è la proiezione interrogabile dellʼOntology. È adatto a topologia, dipendenze e cammini.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Questa distinzione evita di confondere un cammino possibile con una correlazione osservata.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Seconda conclusione didattica: semantica e tempo cooperano, ma risolvono problemi diversi.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Transizione: passiamo dal vocabolario condiviso allʼesperienza operativa sulle singole istanze.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Builder è distinto dallʼOntology e dal Graph. Usa le stesse chiavi canoniche ma possiede mapping, flussi e refresh propri.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serie sono incremental mapping. Il link property deve corrispondere a una proprietà statica già modellata.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Builder crea relazioni tramite join di proprietà delle proprie entity. Il Graph dellʼOntology usa invece mapping table del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Digital Twin aggrega contesto operativo. Non attribuisce automaticamente la corrente a un package e non sostituisce la logica analitica KQL.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Nessun livello sostituisce gli altri. Il valore nasce dalla divisione esplicita delle responsabilità.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Transizione: la demo funziona nella UI Fabric. Il passo successivo è renderla consumabile da applicazioni e persone.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API, portale e chat sono una proposta successiva. Non sono già implementati. La chat dovrebbe richiamare query testate invece di eseguire KQL o GQL arbitrario.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https://learn.microsoft.com/en-us/fabric/data-engineering/lakehouse-sql-analytics-endpoint ; https://learn.microsoft.com/en-us/rest/api/fabric/graphmodel/items/execute-query%28beta%29 ; https://learn.microsoft.com/en-us/fabric/iq/ontology/concepts-agent-integration ; https://learn.microsoft.com/en-us/rest/api/fabric/digitaltwinbuilder/items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esperienze condividono il catalogo di domande. Non esporre direttamente KQL o GQL arbitrario al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LʼAPI orchestra client Kusto, SQL endpoint e GQL Query API. Autenticazione con Microsoft Entra. Le query restano versionate e testate lato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portale può riutilizzare il linguaggio visivo della HMI esistente. Prima implementazione consigliata: sola lettura e tre domande predefinite.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Ultimo capitolo: collocare Digital Twin Builder senza duplicare il modello semantico appena costruito.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piattaforma è giustificata dal bisogno di rispondere a più famiglie di domande senza confondere livelli e granularità.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due item sono distinti e non si sincronizzano automaticamente. Condividono le identity key canoniche. Fonte: https://learn.microsoft.com/en-us/fabric/iq/ontology/overview ; https://learn.microsoft.com/en-us/fabric/real-time-intelligence/digital-twin-builder/overview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BD50-ED4A-4CC3-737B-14E13D6A5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47BB7-BBAD-9A64-3373-279350EB8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uvola 21">
            <a:extLst>
              <a:ext uri="{FF2B5EF4-FFF2-40B4-BE49-F238E27FC236}">
                <a16:creationId xmlns:a16="http://schemas.microsoft.com/office/drawing/2014/main" id="{AE682589-5BA3-AA4C-9A24-37369AA38A9A}"/>
              </a:ext>
            </a:extLst>
          </p:cNvPr>
          <p:cNvSpPr>
            <a:spLocks noGrp="1"/>
          </p:cNvSpPr>
          <p:nvPr/>
        </p:nvSpPr>
        <p:spPr>
          <a:xfrm>
            <a:off x="838199" y="1690688"/>
            <a:ext cx="10515600" cy="4523033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Immagine 18"/>
          <p:cNvPicPr>
            <a:picLocks noChangeAspect="1"/>
          </p:cNvPicPr>
          <p:nvPr/>
        </p:nvPicPr>
        <p:blipFill>
          <a:blip r:embed="rId2"/>
          <a:srcRect r="6628" b="866"/>
          <a:stretch>
            <a:fillRect/>
          </a:stretch>
        </p:blipFill>
        <p:spPr>
          <a:xfrm>
            <a:off x="7231461" y="4637430"/>
            <a:ext cx="2163052" cy="898634"/>
          </a:xfrm>
          <a:prstGeom prst="rect">
            <a:avLst/>
          </a:prstGeom>
        </p:spPr>
      </p:pic>
      <p:pic>
        <p:nvPicPr>
          <p:cNvPr id="32" name="Immagin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817" y="4699983"/>
            <a:ext cx="1234388" cy="898634"/>
          </a:xfrm>
          <a:prstGeom prst="rect">
            <a:avLst/>
          </a:prstGeom>
        </p:spPr>
      </p:pic>
      <p:pic>
        <p:nvPicPr>
          <p:cNvPr id="33" name="Immagin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694" y="4776641"/>
            <a:ext cx="2270924" cy="620211"/>
          </a:xfrm>
          <a:prstGeom prst="rect">
            <a:avLst/>
          </a:prstGeom>
        </p:spPr>
      </p:pic>
      <p:pic>
        <p:nvPicPr>
          <p:cNvPr id="34" name="Immagine 8"/>
          <p:cNvPicPr>
            <a:picLocks noChangeAspect="1"/>
          </p:cNvPicPr>
          <p:nvPr/>
        </p:nvPicPr>
        <p:blipFill>
          <a:blip r:embed="rId5"/>
          <a:srcRect l="8068" r="14065"/>
          <a:stretch>
            <a:fillRect/>
          </a:stretch>
        </p:blipFill>
        <p:spPr>
          <a:xfrm>
            <a:off x="6500038" y="2226834"/>
            <a:ext cx="2270925" cy="1006830"/>
          </a:xfrm>
          <a:prstGeom prst="rect">
            <a:avLst/>
          </a:prstGeom>
        </p:spPr>
      </p:pic>
      <p:pic>
        <p:nvPicPr>
          <p:cNvPr id="35" name="Picture 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055576" y="2280932"/>
            <a:ext cx="898634" cy="898634"/>
          </a:xfrm>
          <a:prstGeom prst="rect">
            <a:avLst/>
          </a:prstGeom>
        </p:spPr>
      </p:pic>
      <p:pic>
        <p:nvPicPr>
          <p:cNvPr id="36" name="Immagin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3266879"/>
            <a:ext cx="1833645" cy="1238250"/>
          </a:xfrm>
          <a:prstGeom prst="rect">
            <a:avLst/>
          </a:prstGeom>
        </p:spPr>
      </p:pic>
      <p:pic>
        <p:nvPicPr>
          <p:cNvPr id="37" name="Immagin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556" y="3549931"/>
            <a:ext cx="2013407" cy="675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7"/>
          <p:cNvPicPr>
            <a:picLocks noChangeAspect="1"/>
          </p:cNvPicPr>
          <p:nvPr/>
        </p:nvPicPr>
        <p:blipFill rotWithShape="1">
          <a:blip r:embed="rId7">
            <a:alphaModFix amt="20000"/>
          </a:blip>
          <a:srcRect l="13190" t="41573" r="17590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A3D8709-88CD-D848-A370-A96F8E504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1908" y="2722563"/>
            <a:ext cx="9144000" cy="2387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b">
            <a:norm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800" b="1">
                <a:solidFill>
                  <a:schemeClr val="bg2">
                    <a:lumMod val="50000"/>
                  </a:schemeClr>
                </a:solidFill>
                <a:latin typeface="Segoe Print"/>
                <a:ea typeface="Segoe Print"/>
                <a:cs typeface="Segoe Print"/>
              </a:rPr>
              <a:t>Digital Twin con Microsoft Fabric: dall’Ontologia al Graph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01CB1058-9CD1-E448-887D-B6ECC596D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908" y="5202238"/>
            <a:ext cx="9144000" cy="16557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>
            <a:normAutofit/>
          </a:bodyPr>
          <a:lstStyle/>
          <a:p>
            <a:pPr>
              <a:buFont typeface="Arial"/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solidFill>
                  <a:schemeClr val="bg2">
                    <a:lumMod val="50000"/>
                  </a:schemeClr>
                </a:solidFill>
                <a:latin typeface="Segoe Print"/>
                <a:ea typeface="Segoe Print"/>
                <a:cs typeface="Segoe Print"/>
              </a:rPr>
              <a:t>Marco Parenzan</a:t>
            </a:r>
          </a:p>
        </p:txBody>
      </p:sp>
    </p:spTree>
    <p:extLst>
      <p:ext uri="{BB962C8B-B14F-4D97-AF65-F5344CB8AC3E}">
        <p14:creationId xmlns:p14="http://schemas.microsoft.com/office/powerpoint/2010/main" val="214873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324B63-2E7D-4044-9BAE-EFA9832ACC1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40BC615-D2CE-AECD-38B8-2A0D758FBFA1}"/>
              </a:ext>
            </a:extLst>
          </p:cNvPr>
          <p:cNvSpPr>
            <a:spLocks noGrp="1"/>
          </p:cNvSpPr>
          <p:nvPr/>
        </p:nvSpPr>
        <p:spPr>
          <a:xfrm>
            <a:off x="721519" y="620167"/>
            <a:ext cx="7366000" cy="723275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Sponsors &amp; Organizers</a:t>
            </a:r>
          </a:p>
        </p:txBody>
      </p:sp>
    </p:spTree>
    <p:extLst>
      <p:ext uri="{BB962C8B-B14F-4D97-AF65-F5344CB8AC3E}">
        <p14:creationId xmlns:p14="http://schemas.microsoft.com/office/powerpoint/2010/main" val="323943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7649278" y="1754042"/>
            <a:ext cx="1009650" cy="1009650"/>
          </a:xfrm>
          <a:prstGeom prst="rect">
            <a:avLst/>
          </a:prstGeom>
        </p:spPr>
      </p:pic>
      <p:pic>
        <p:nvPicPr>
          <p:cNvPr id="44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640" y="1549497"/>
            <a:ext cx="1094435" cy="1005856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79CECE00-1942-6DF8-49EC-951DCEC21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10000"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Sono Marco Parenzan</a:t>
            </a:r>
          </a:p>
        </p:txBody>
      </p:sp>
      <p:sp>
        <p:nvSpPr>
          <p:cNvPr id="17" name="Oval 70">
            <a:extLst>
              <a:ext uri="{FF2B5EF4-FFF2-40B4-BE49-F238E27FC236}">
                <a16:creationId xmlns:a16="http://schemas.microsoft.com/office/drawing/2014/main" id="{3E4B15EC-057E-D3A4-CF89-CC3474A49185}"/>
              </a:ext>
            </a:extLst>
          </p:cNvPr>
          <p:cNvSpPr>
            <a:spLocks noGrp="1"/>
          </p:cNvSpPr>
          <p:nvPr/>
        </p:nvSpPr>
        <p:spPr>
          <a:xfrm>
            <a:off x="7426883" y="3891370"/>
            <a:ext cx="1009948" cy="1005856"/>
          </a:xfrm>
          <a:prstGeom prst="ellipse">
            <a:avLst/>
          </a:prstGeom>
          <a:solidFill>
            <a:srgbClr val="0087A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7F33777F-EA93-9A7D-5C8D-33FF3A52DA90}"/>
              </a:ext>
            </a:extLst>
          </p:cNvPr>
          <p:cNvSpPr>
            <a:spLocks noGrp="1"/>
          </p:cNvSpPr>
          <p:nvPr/>
        </p:nvSpPr>
        <p:spPr>
          <a:xfrm>
            <a:off x="7680392" y="4128523"/>
            <a:ext cx="494752" cy="494752"/>
          </a:xfrm>
          <a:custGeom>
            <a:avLst/>
            <a:gdLst>
              <a:gd name="T0" fmla="*/ 23 w 98"/>
              <a:gd name="T1" fmla="*/ 98 h 98"/>
              <a:gd name="T2" fmla="*/ 2 w 98"/>
              <a:gd name="T3" fmla="*/ 98 h 98"/>
              <a:gd name="T4" fmla="*/ 2 w 98"/>
              <a:gd name="T5" fmla="*/ 32 h 98"/>
              <a:gd name="T6" fmla="*/ 23 w 98"/>
              <a:gd name="T7" fmla="*/ 32 h 98"/>
              <a:gd name="T8" fmla="*/ 23 w 98"/>
              <a:gd name="T9" fmla="*/ 98 h 98"/>
              <a:gd name="T10" fmla="*/ 12 w 98"/>
              <a:gd name="T11" fmla="*/ 24 h 98"/>
              <a:gd name="T12" fmla="*/ 0 w 98"/>
              <a:gd name="T13" fmla="*/ 12 h 98"/>
              <a:gd name="T14" fmla="*/ 12 w 98"/>
              <a:gd name="T15" fmla="*/ 0 h 98"/>
              <a:gd name="T16" fmla="*/ 24 w 98"/>
              <a:gd name="T17" fmla="*/ 12 h 98"/>
              <a:gd name="T18" fmla="*/ 12 w 98"/>
              <a:gd name="T19" fmla="*/ 24 h 98"/>
              <a:gd name="T20" fmla="*/ 98 w 98"/>
              <a:gd name="T21" fmla="*/ 98 h 98"/>
              <a:gd name="T22" fmla="*/ 78 w 98"/>
              <a:gd name="T23" fmla="*/ 98 h 98"/>
              <a:gd name="T24" fmla="*/ 78 w 98"/>
              <a:gd name="T25" fmla="*/ 64 h 98"/>
              <a:gd name="T26" fmla="*/ 67 w 98"/>
              <a:gd name="T27" fmla="*/ 49 h 98"/>
              <a:gd name="T28" fmla="*/ 55 w 98"/>
              <a:gd name="T29" fmla="*/ 64 h 98"/>
              <a:gd name="T30" fmla="*/ 55 w 98"/>
              <a:gd name="T31" fmla="*/ 98 h 98"/>
              <a:gd name="T32" fmla="*/ 35 w 98"/>
              <a:gd name="T33" fmla="*/ 98 h 98"/>
              <a:gd name="T34" fmla="*/ 35 w 98"/>
              <a:gd name="T35" fmla="*/ 32 h 98"/>
              <a:gd name="T36" fmla="*/ 55 w 98"/>
              <a:gd name="T37" fmla="*/ 32 h 98"/>
              <a:gd name="T38" fmla="*/ 55 w 98"/>
              <a:gd name="T39" fmla="*/ 41 h 98"/>
              <a:gd name="T40" fmla="*/ 75 w 98"/>
              <a:gd name="T41" fmla="*/ 30 h 98"/>
              <a:gd name="T42" fmla="*/ 98 w 98"/>
              <a:gd name="T43" fmla="*/ 56 h 98"/>
              <a:gd name="T44" fmla="*/ 98 w 98"/>
              <a:gd name="T45" fmla="*/ 98 h 98"/>
            </a:gdLst>
            <a:ahLst/>
            <a:cxnLst/>
            <a:rect l="0" t="0" r="r" b="b"/>
            <a:pathLst>
              <a:path w="98" h="98">
                <a:moveTo>
                  <a:pt x="23" y="98"/>
                </a:moveTo>
                <a:cubicBezTo>
                  <a:pt x="2" y="98"/>
                  <a:pt x="2" y="98"/>
                  <a:pt x="2" y="98"/>
                </a:cubicBezTo>
                <a:cubicBezTo>
                  <a:pt x="2" y="32"/>
                  <a:pt x="2" y="32"/>
                  <a:pt x="2" y="32"/>
                </a:cubicBezTo>
                <a:cubicBezTo>
                  <a:pt x="23" y="32"/>
                  <a:pt x="23" y="32"/>
                  <a:pt x="23" y="32"/>
                </a:cubicBezTo>
                <a:lnTo>
                  <a:pt x="23" y="98"/>
                </a:lnTo>
                <a:close/>
                <a:moveTo>
                  <a:pt x="12" y="24"/>
                </a:moveTo>
                <a:cubicBezTo>
                  <a:pt x="6" y="24"/>
                  <a:pt x="0" y="18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8"/>
                  <a:pt x="19" y="24"/>
                  <a:pt x="12" y="24"/>
                </a:cubicBezTo>
                <a:close/>
                <a:moveTo>
                  <a:pt x="98" y="98"/>
                </a:move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73"/>
                  <a:pt x="78" y="64"/>
                </a:cubicBezTo>
                <a:cubicBezTo>
                  <a:pt x="78" y="54"/>
                  <a:pt x="75" y="49"/>
                  <a:pt x="67" y="49"/>
                </a:cubicBezTo>
                <a:cubicBezTo>
                  <a:pt x="59" y="49"/>
                  <a:pt x="55" y="54"/>
                  <a:pt x="55" y="64"/>
                </a:cubicBezTo>
                <a:cubicBezTo>
                  <a:pt x="55" y="74"/>
                  <a:pt x="55" y="98"/>
                  <a:pt x="5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32"/>
                  <a:pt x="35" y="32"/>
                  <a:pt x="35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61" y="30"/>
                  <a:pt x="75" y="30"/>
                </a:cubicBezTo>
                <a:cubicBezTo>
                  <a:pt x="89" y="30"/>
                  <a:pt x="98" y="39"/>
                  <a:pt x="98" y="56"/>
                </a:cubicBezTo>
                <a:cubicBezTo>
                  <a:pt x="98" y="74"/>
                  <a:pt x="98" y="98"/>
                  <a:pt x="98" y="9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7D12CDD8-2932-E6AA-D2D6-E7EC980028E4}"/>
              </a:ext>
            </a:extLst>
          </p:cNvPr>
          <p:cNvSpPr>
            <a:spLocks noGrp="1"/>
          </p:cNvSpPr>
          <p:nvPr/>
        </p:nvSpPr>
        <p:spPr>
          <a:xfrm>
            <a:off x="7426883" y="2758517"/>
            <a:ext cx="1009948" cy="1009948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4" name="Oval 113">
            <a:extLst>
              <a:ext uri="{FF2B5EF4-FFF2-40B4-BE49-F238E27FC236}">
                <a16:creationId xmlns:a16="http://schemas.microsoft.com/office/drawing/2014/main" id="{33C7A412-60D1-52E6-B99E-C4CF1B46C45C}"/>
              </a:ext>
            </a:extLst>
          </p:cNvPr>
          <p:cNvSpPr>
            <a:spLocks noGrp="1"/>
          </p:cNvSpPr>
          <p:nvPr/>
        </p:nvSpPr>
        <p:spPr>
          <a:xfrm>
            <a:off x="7557789" y="2755160"/>
            <a:ext cx="763436" cy="763436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25" name="Freeform 114">
            <a:extLst>
              <a:ext uri="{FF2B5EF4-FFF2-40B4-BE49-F238E27FC236}">
                <a16:creationId xmlns:a16="http://schemas.microsoft.com/office/drawing/2014/main" id="{6A267327-64CE-BDEB-6EAB-BE915EFF38C3}"/>
              </a:ext>
            </a:extLst>
          </p:cNvPr>
          <p:cNvSpPr>
            <a:spLocks noGrp="1"/>
          </p:cNvSpPr>
          <p:nvPr/>
        </p:nvSpPr>
        <p:spPr>
          <a:xfrm>
            <a:off x="7692789" y="3036723"/>
            <a:ext cx="482169" cy="469806"/>
          </a:xfrm>
          <a:custGeom>
            <a:avLst/>
            <a:gdLst>
              <a:gd name="T0" fmla="*/ 63 w 126"/>
              <a:gd name="T1" fmla="*/ 0 h 123"/>
              <a:gd name="T2" fmla="*/ 0 w 126"/>
              <a:gd name="T3" fmla="*/ 63 h 123"/>
              <a:gd name="T4" fmla="*/ 42 w 126"/>
              <a:gd name="T5" fmla="*/ 123 h 123"/>
              <a:gd name="T6" fmla="*/ 42 w 126"/>
              <a:gd name="T7" fmla="*/ 123 h 123"/>
              <a:gd name="T8" fmla="*/ 44 w 126"/>
              <a:gd name="T9" fmla="*/ 123 h 123"/>
              <a:gd name="T10" fmla="*/ 47 w 126"/>
              <a:gd name="T11" fmla="*/ 119 h 123"/>
              <a:gd name="T12" fmla="*/ 47 w 126"/>
              <a:gd name="T13" fmla="*/ 119 h 123"/>
              <a:gd name="T14" fmla="*/ 47 w 126"/>
              <a:gd name="T15" fmla="*/ 119 h 123"/>
              <a:gd name="T16" fmla="*/ 47 w 126"/>
              <a:gd name="T17" fmla="*/ 108 h 123"/>
              <a:gd name="T18" fmla="*/ 34 w 126"/>
              <a:gd name="T19" fmla="*/ 108 h 123"/>
              <a:gd name="T20" fmla="*/ 25 w 126"/>
              <a:gd name="T21" fmla="*/ 98 h 123"/>
              <a:gd name="T22" fmla="*/ 17 w 126"/>
              <a:gd name="T23" fmla="*/ 89 h 123"/>
              <a:gd name="T24" fmla="*/ 26 w 126"/>
              <a:gd name="T25" fmla="*/ 90 h 123"/>
              <a:gd name="T26" fmla="*/ 40 w 126"/>
              <a:gd name="T27" fmla="*/ 101 h 123"/>
              <a:gd name="T28" fmla="*/ 48 w 126"/>
              <a:gd name="T29" fmla="*/ 99 h 123"/>
              <a:gd name="T30" fmla="*/ 51 w 126"/>
              <a:gd name="T31" fmla="*/ 92 h 123"/>
              <a:gd name="T32" fmla="*/ 22 w 126"/>
              <a:gd name="T33" fmla="*/ 62 h 123"/>
              <a:gd name="T34" fmla="*/ 29 w 126"/>
              <a:gd name="T35" fmla="*/ 43 h 123"/>
              <a:gd name="T36" fmla="*/ 30 w 126"/>
              <a:gd name="T37" fmla="*/ 26 h 123"/>
              <a:gd name="T38" fmla="*/ 47 w 126"/>
              <a:gd name="T39" fmla="*/ 33 h 123"/>
              <a:gd name="T40" fmla="*/ 63 w 126"/>
              <a:gd name="T41" fmla="*/ 31 h 123"/>
              <a:gd name="T42" fmla="*/ 63 w 126"/>
              <a:gd name="T43" fmla="*/ 31 h 123"/>
              <a:gd name="T44" fmla="*/ 63 w 126"/>
              <a:gd name="T45" fmla="*/ 31 h 123"/>
              <a:gd name="T46" fmla="*/ 63 w 126"/>
              <a:gd name="T47" fmla="*/ 31 h 123"/>
              <a:gd name="T48" fmla="*/ 63 w 126"/>
              <a:gd name="T49" fmla="*/ 31 h 123"/>
              <a:gd name="T50" fmla="*/ 79 w 126"/>
              <a:gd name="T51" fmla="*/ 33 h 123"/>
              <a:gd name="T52" fmla="*/ 96 w 126"/>
              <a:gd name="T53" fmla="*/ 26 h 123"/>
              <a:gd name="T54" fmla="*/ 97 w 126"/>
              <a:gd name="T55" fmla="*/ 43 h 123"/>
              <a:gd name="T56" fmla="*/ 104 w 126"/>
              <a:gd name="T57" fmla="*/ 62 h 123"/>
              <a:gd name="T58" fmla="*/ 75 w 126"/>
              <a:gd name="T59" fmla="*/ 92 h 123"/>
              <a:gd name="T60" fmla="*/ 79 w 126"/>
              <a:gd name="T61" fmla="*/ 103 h 123"/>
              <a:gd name="T62" fmla="*/ 79 w 126"/>
              <a:gd name="T63" fmla="*/ 119 h 123"/>
              <a:gd name="T64" fmla="*/ 82 w 126"/>
              <a:gd name="T65" fmla="*/ 123 h 123"/>
              <a:gd name="T66" fmla="*/ 83 w 126"/>
              <a:gd name="T67" fmla="*/ 123 h 123"/>
              <a:gd name="T68" fmla="*/ 84 w 126"/>
              <a:gd name="T69" fmla="*/ 123 h 123"/>
              <a:gd name="T70" fmla="*/ 126 w 126"/>
              <a:gd name="T71" fmla="*/ 63 h 123"/>
              <a:gd name="T72" fmla="*/ 63 w 126"/>
              <a:gd name="T73" fmla="*/ 0 h 123"/>
            </a:gdLst>
            <a:ahLst/>
            <a:cxnLst/>
            <a:rect l="0" t="0" r="r" b="b"/>
            <a:pathLst>
              <a:path w="126" h="123">
                <a:moveTo>
                  <a:pt x="63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1"/>
                  <a:pt x="17" y="114"/>
                  <a:pt x="42" y="123"/>
                </a:cubicBezTo>
                <a:cubicBezTo>
                  <a:pt x="42" y="123"/>
                  <a:pt x="42" y="123"/>
                  <a:pt x="42" y="123"/>
                </a:cubicBezTo>
                <a:cubicBezTo>
                  <a:pt x="43" y="123"/>
                  <a:pt x="43" y="123"/>
                  <a:pt x="44" y="123"/>
                </a:cubicBezTo>
                <a:cubicBezTo>
                  <a:pt x="46" y="123"/>
                  <a:pt x="47" y="122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6"/>
                  <a:pt x="47" y="112"/>
                  <a:pt x="47" y="108"/>
                </a:cubicBezTo>
                <a:cubicBezTo>
                  <a:pt x="43" y="109"/>
                  <a:pt x="37" y="110"/>
                  <a:pt x="34" y="108"/>
                </a:cubicBezTo>
                <a:cubicBezTo>
                  <a:pt x="30" y="106"/>
                  <a:pt x="27" y="103"/>
                  <a:pt x="25" y="98"/>
                </a:cubicBezTo>
                <a:cubicBezTo>
                  <a:pt x="23" y="92"/>
                  <a:pt x="17" y="90"/>
                  <a:pt x="17" y="89"/>
                </a:cubicBezTo>
                <a:cubicBezTo>
                  <a:pt x="16" y="88"/>
                  <a:pt x="23" y="86"/>
                  <a:pt x="26" y="90"/>
                </a:cubicBezTo>
                <a:cubicBezTo>
                  <a:pt x="30" y="94"/>
                  <a:pt x="33" y="102"/>
                  <a:pt x="40" y="101"/>
                </a:cubicBezTo>
                <a:cubicBezTo>
                  <a:pt x="44" y="100"/>
                  <a:pt x="46" y="100"/>
                  <a:pt x="48" y="99"/>
                </a:cubicBezTo>
                <a:cubicBezTo>
                  <a:pt x="48" y="97"/>
                  <a:pt x="49" y="94"/>
                  <a:pt x="51" y="92"/>
                </a:cubicBezTo>
                <a:cubicBezTo>
                  <a:pt x="34" y="89"/>
                  <a:pt x="22" y="80"/>
                  <a:pt x="22" y="62"/>
                </a:cubicBezTo>
                <a:cubicBezTo>
                  <a:pt x="22" y="54"/>
                  <a:pt x="25" y="47"/>
                  <a:pt x="29" y="43"/>
                </a:cubicBezTo>
                <a:cubicBezTo>
                  <a:pt x="28" y="39"/>
                  <a:pt x="27" y="30"/>
                  <a:pt x="30" y="26"/>
                </a:cubicBezTo>
                <a:cubicBezTo>
                  <a:pt x="30" y="26"/>
                  <a:pt x="35" y="24"/>
                  <a:pt x="47" y="33"/>
                </a:cubicBezTo>
                <a:cubicBezTo>
                  <a:pt x="52" y="32"/>
                  <a:pt x="57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9" y="31"/>
                  <a:pt x="74" y="32"/>
                  <a:pt x="79" y="33"/>
                </a:cubicBezTo>
                <a:cubicBezTo>
                  <a:pt x="92" y="24"/>
                  <a:pt x="96" y="26"/>
                  <a:pt x="96" y="26"/>
                </a:cubicBezTo>
                <a:cubicBezTo>
                  <a:pt x="99" y="30"/>
                  <a:pt x="98" y="39"/>
                  <a:pt x="97" y="43"/>
                </a:cubicBezTo>
                <a:cubicBezTo>
                  <a:pt x="101" y="47"/>
                  <a:pt x="104" y="54"/>
                  <a:pt x="104" y="62"/>
                </a:cubicBezTo>
                <a:cubicBezTo>
                  <a:pt x="104" y="80"/>
                  <a:pt x="92" y="89"/>
                  <a:pt x="75" y="92"/>
                </a:cubicBezTo>
                <a:cubicBezTo>
                  <a:pt x="79" y="95"/>
                  <a:pt x="79" y="101"/>
                  <a:pt x="79" y="103"/>
                </a:cubicBezTo>
                <a:cubicBezTo>
                  <a:pt x="79" y="105"/>
                  <a:pt x="79" y="119"/>
                  <a:pt x="79" y="119"/>
                </a:cubicBezTo>
                <a:cubicBezTo>
                  <a:pt x="79" y="122"/>
                  <a:pt x="80" y="123"/>
                  <a:pt x="82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109" y="114"/>
                  <a:pt x="126" y="91"/>
                  <a:pt x="126" y="63"/>
                </a:cubicBezTo>
                <a:cubicBezTo>
                  <a:pt x="126" y="28"/>
                  <a:pt x="98" y="0"/>
                  <a:pt x="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48233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2E9AA61-262B-2581-E44C-4F5D9EBD5ADC}"/>
              </a:ext>
            </a:extLst>
          </p:cNvPr>
          <p:cNvSpPr>
            <a:spLocks noGrp="1"/>
          </p:cNvSpPr>
          <p:nvPr/>
        </p:nvSpPr>
        <p:spPr>
          <a:xfrm>
            <a:off x="8658928" y="2065410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Print"/>
                <a:ea typeface="Segoe Print"/>
                <a:cs typeface="Segoe Print"/>
              </a:rPr>
              <a:t>marco_parenzan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BF9D387-EDE2-B4A4-41C0-01397EC21F2F}"/>
              </a:ext>
            </a:extLst>
          </p:cNvPr>
          <p:cNvSpPr>
            <a:spLocks noGrp="1"/>
          </p:cNvSpPr>
          <p:nvPr/>
        </p:nvSpPr>
        <p:spPr>
          <a:xfrm>
            <a:off x="8443480" y="3074728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6DB9C5D6-EDD1-4233-7238-BC63871B3E49}"/>
              </a:ext>
            </a:extLst>
          </p:cNvPr>
          <p:cNvSpPr>
            <a:spLocks noGrp="1"/>
          </p:cNvSpPr>
          <p:nvPr/>
        </p:nvSpPr>
        <p:spPr>
          <a:xfrm>
            <a:off x="8443480" y="4193915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1EAFFF86-4B08-27C8-49F8-846D4401E6F0}"/>
              </a:ext>
            </a:extLst>
          </p:cNvPr>
          <p:cNvSpPr>
            <a:spLocks noGrp="1"/>
          </p:cNvSpPr>
          <p:nvPr/>
        </p:nvSpPr>
        <p:spPr>
          <a:xfrm>
            <a:off x="8443480" y="5266447"/>
            <a:ext cx="4010025" cy="8032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pic>
        <p:nvPicPr>
          <p:cNvPr id="56" name="Picture 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96437" y="2163252"/>
            <a:ext cx="1584901" cy="635751"/>
          </a:xfrm>
          <a:prstGeom prst="rect">
            <a:avLst/>
          </a:prstGeom>
        </p:spPr>
      </p:pic>
      <p:pic>
        <p:nvPicPr>
          <p:cNvPr id="57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84042" y="2921461"/>
            <a:ext cx="1609691" cy="652084"/>
          </a:xfrm>
          <a:prstGeom prst="rect">
            <a:avLst/>
          </a:prstGeom>
        </p:spPr>
      </p:pic>
      <p:pic>
        <p:nvPicPr>
          <p:cNvPr id="58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042" y="3696004"/>
            <a:ext cx="1609691" cy="536564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79A4AEC-2489-5CAB-B8E3-A7643F093DCD}"/>
              </a:ext>
            </a:extLst>
          </p:cNvPr>
          <p:cNvSpPr>
            <a:spLocks noGrp="1"/>
          </p:cNvSpPr>
          <p:nvPr/>
        </p:nvSpPr>
        <p:spPr>
          <a:xfrm>
            <a:off x="8443480" y="1839853"/>
            <a:ext cx="3876675" cy="431800"/>
          </a:xfrm>
          <a:prstGeom prst="rect">
            <a:avLst/>
          </a:prstGeom>
        </p:spPr>
        <p:txBody>
          <a:bodyPr>
            <a:normAutofit fontScale="91642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marcoparenzan.bsky.social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225B484B-4FF2-E3E7-AAE5-63877B7D89C4}"/>
              </a:ext>
            </a:extLst>
          </p:cNvPr>
          <p:cNvSpPr>
            <a:spLocks noGrp="1"/>
          </p:cNvSpPr>
          <p:nvPr/>
        </p:nvSpPr>
        <p:spPr>
          <a:xfrm>
            <a:off x="6501628" y="2310943"/>
            <a:ext cx="7634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 sz="2800" b="1">
              <a:solidFill>
                <a:srgbClr val="324147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14D452-5A10-111A-99EF-48014DCC3DAB}"/>
              </a:ext>
            </a:extLst>
          </p:cNvPr>
          <p:cNvSpPr>
            <a:spLocks noGrp="1"/>
          </p:cNvSpPr>
          <p:nvPr/>
        </p:nvSpPr>
        <p:spPr>
          <a:xfrm>
            <a:off x="5910884" y="1758090"/>
            <a:ext cx="7409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 cap="none" spc="0">
                <a:solidFill>
                  <a:srgbClr val="014085"/>
                </a:solidFill>
                <a:latin typeface="Segoe Print"/>
                <a:ea typeface="Segoe Print"/>
                <a:cs typeface="Segoe Print"/>
              </a:rPr>
              <a:t>IoT</a:t>
            </a:r>
          </a:p>
        </p:txBody>
      </p:sp>
      <p:pic>
        <p:nvPicPr>
          <p:cNvPr id="62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1701" y="4427381"/>
            <a:ext cx="1098970" cy="1275141"/>
          </a:xfrm>
          <a:prstGeom prst="rect">
            <a:avLst/>
          </a:prstGeom>
        </p:spPr>
      </p:pic>
      <p:pic>
        <p:nvPicPr>
          <p:cNvPr id="63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124349">
            <a:off x="6908880" y="4314933"/>
            <a:ext cx="609600" cy="914400"/>
          </a:xfrm>
          <a:prstGeom prst="rect">
            <a:avLst/>
          </a:prstGeom>
        </p:spPr>
      </p:pic>
      <p:pic>
        <p:nvPicPr>
          <p:cNvPr id="6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659039">
            <a:off x="6648774" y="4725872"/>
            <a:ext cx="609600" cy="914400"/>
          </a:xfrm>
          <a:prstGeom prst="rect">
            <a:avLst/>
          </a:prstGeom>
        </p:spPr>
      </p:pic>
      <p:pic>
        <p:nvPicPr>
          <p:cNvPr id="65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659396">
            <a:off x="6648774" y="5255655"/>
            <a:ext cx="609600" cy="914400"/>
          </a:xfrm>
          <a:prstGeom prst="rect">
            <a:avLst/>
          </a:prstGeom>
        </p:spPr>
      </p:pic>
      <p:pic>
        <p:nvPicPr>
          <p:cNvPr id="66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657831">
            <a:off x="6909466" y="5696999"/>
            <a:ext cx="609600" cy="914400"/>
          </a:xfrm>
          <a:prstGeom prst="rect">
            <a:avLst/>
          </a:prstGeom>
        </p:spPr>
      </p:pic>
      <p:pic>
        <p:nvPicPr>
          <p:cNvPr id="67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364" y="1754042"/>
            <a:ext cx="4094930" cy="4094930"/>
          </a:xfrm>
          <a:prstGeom prst="rect">
            <a:avLst/>
          </a:prstGeom>
        </p:spPr>
      </p:pic>
      <p:sp>
        <p:nvSpPr>
          <p:cNvPr id="14" name="TextBox 2">
            <a:extLst>
              <a:ext uri="{FF2B5EF4-FFF2-40B4-BE49-F238E27FC236}">
                <a16:creationId xmlns:a16="http://schemas.microsoft.com/office/drawing/2014/main" id="{EB4E7638-F1BD-4F0B-3409-0D4A3CB0227F}"/>
              </a:ext>
            </a:extLst>
          </p:cNvPr>
          <p:cNvSpPr>
            <a:spLocks noGrp="1"/>
          </p:cNvSpPr>
          <p:nvPr/>
        </p:nvSpPr>
        <p:spPr>
          <a:xfrm>
            <a:off x="561768" y="802764"/>
            <a:ext cx="7366000" cy="723275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Sono Marco Parenzan</a:t>
            </a:r>
          </a:p>
        </p:txBody>
      </p:sp>
    </p:spTree>
    <p:extLst>
      <p:ext uri="{BB962C8B-B14F-4D97-AF65-F5344CB8AC3E}">
        <p14:creationId xmlns:p14="http://schemas.microsoft.com/office/powerpoint/2010/main" val="194848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C380F-8B45-7794-2785-9DFBE1ACA8CE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7366000" cy="135636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Sto esplorando la simulazione industriale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BFD15-F849-7580-31FA-9D4309E25970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6858000" cy="327660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75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Una promessa dei Big Data è rimasta incompleta: raccogliere tutto non ci dice che cosa chiedere.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875">
              <a:solidFill>
                <a:srgbClr val="00000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75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Oggi affidiamo all’AI la formulazione delle domande. Ma senza metadati, identità e relazioni, l’AI non conosce il significato dei dati.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875">
              <a:solidFill>
                <a:srgbClr val="00000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75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Prima di interrogare i dati, dobbiamo spiegare il mondo.</a:t>
            </a:r>
          </a:p>
        </p:txBody>
      </p:sp>
    </p:spTree>
    <p:extLst>
      <p:ext uri="{BB962C8B-B14F-4D97-AF65-F5344CB8AC3E}">
        <p14:creationId xmlns:p14="http://schemas.microsoft.com/office/powerpoint/2010/main" val="392610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82B488-B813-4272-A078-DBE8865A9CC7}"/>
              </a:ext>
            </a:extLst>
          </p:cNvPr>
          <p:cNvSpPr>
            <a:spLocks noGrp="1"/>
          </p:cNvSpPr>
          <p:nvPr/>
        </p:nvSpPr>
        <p:spPr>
          <a:xfrm>
            <a:off x="400050" y="647700"/>
            <a:ext cx="1104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DEFINIRE IL MONDO PRIMA DI INTERROGARLO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45AFB4-B1A5-4C33-9CE9-C89D0BC1FCCE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20764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1" dirty="0" err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IndustrialSim</a:t>
            </a:r>
            <a:endParaRPr sz="1425" b="1" dirty="0">
              <a:solidFill>
                <a:srgbClr val="111111"/>
              </a:solidFill>
              <a:latin typeface="Segoe Print"/>
              <a:ea typeface="Segoe Print"/>
              <a:cs typeface="Segoe Print"/>
            </a:endParaRPr>
          </a:p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1" dirty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Experiments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E10EA6-BC68-44F9-84B0-F367240CDE33}"/>
              </a:ext>
            </a:extLst>
          </p:cNvPr>
          <p:cNvSpPr>
            <a:spLocks noGrp="1"/>
          </p:cNvSpPr>
          <p:nvPr/>
        </p:nvSpPr>
        <p:spPr>
          <a:xfrm>
            <a:off x="447675" y="287655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Repository dell’esperimento: simulatore, configurazione e applicazione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6724CD-9969-4C19-90CF-93A71B16C64A}"/>
              </a:ext>
            </a:extLst>
          </p:cNvPr>
          <p:cNvSpPr>
            <a:spLocks noGrp="1"/>
          </p:cNvSpPr>
          <p:nvPr/>
        </p:nvSpPr>
        <p:spPr>
          <a:xfrm>
            <a:off x="2724150" y="2047875"/>
            <a:ext cx="20764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00" b="1" dirty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PYSHARP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3E794-7189-4C1E-8048-933DE295DACA}"/>
              </a:ext>
            </a:extLst>
          </p:cNvPr>
          <p:cNvSpPr>
            <a:spLocks noGrp="1"/>
          </p:cNvSpPr>
          <p:nvPr/>
        </p:nvSpPr>
        <p:spPr>
          <a:xfrm>
            <a:off x="2771775" y="287655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Scripting delle regole e del comportamento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69C177-DFA8-4AE5-8ACD-E81D1F5E69E6}"/>
              </a:ext>
            </a:extLst>
          </p:cNvPr>
          <p:cNvSpPr>
            <a:spLocks noGrp="1"/>
          </p:cNvSpPr>
          <p:nvPr/>
        </p:nvSpPr>
        <p:spPr>
          <a:xfrm>
            <a:off x="5048250" y="2047875"/>
            <a:ext cx="20764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C6B523-F9B3-4AA1-9C3A-D4C75CDE7B0B}"/>
              </a:ext>
            </a:extLst>
          </p:cNvPr>
          <p:cNvSpPr>
            <a:spLocks noGrp="1"/>
          </p:cNvSpPr>
          <p:nvPr/>
        </p:nvSpPr>
        <p:spPr>
          <a:xfrm>
            <a:off x="5095875" y="287655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Entità, value object e contratti Event Hub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8EB4F-A3FE-4310-9405-00BBA35F0E34}"/>
              </a:ext>
            </a:extLst>
          </p:cNvPr>
          <p:cNvSpPr>
            <a:spLocks noGrp="1"/>
          </p:cNvSpPr>
          <p:nvPr/>
        </p:nvSpPr>
        <p:spPr>
          <a:xfrm>
            <a:off x="7372350" y="2047875"/>
            <a:ext cx="20764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FABRIC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4A2246-F966-460D-8FCF-C246969EFBF6}"/>
              </a:ext>
            </a:extLst>
          </p:cNvPr>
          <p:cNvSpPr>
            <a:spLocks noGrp="1"/>
          </p:cNvSpPr>
          <p:nvPr/>
        </p:nvSpPr>
        <p:spPr>
          <a:xfrm>
            <a:off x="7419975" y="287655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Osservazioni, tempo, semantica e stato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BC39C-F97F-4DFE-8A16-41027FFDBB5A}"/>
              </a:ext>
            </a:extLst>
          </p:cNvPr>
          <p:cNvSpPr>
            <a:spLocks noGrp="1"/>
          </p:cNvSpPr>
          <p:nvPr/>
        </p:nvSpPr>
        <p:spPr>
          <a:xfrm>
            <a:off x="2476500" y="2171700"/>
            <a:ext cx="24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9750" lnSpcReduction="10000"/>
          </a:bodyPr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CC3022-6D38-4285-923E-991D5FA6ADD6}"/>
              </a:ext>
            </a:extLst>
          </p:cNvPr>
          <p:cNvSpPr>
            <a:spLocks noGrp="1"/>
          </p:cNvSpPr>
          <p:nvPr/>
        </p:nvSpPr>
        <p:spPr>
          <a:xfrm>
            <a:off x="4800600" y="2171700"/>
            <a:ext cx="24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9750" lnSpcReduction="10000"/>
          </a:bodyPr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9ABA04-F6E0-4A12-B3C8-8E8848ECBE9C}"/>
              </a:ext>
            </a:extLst>
          </p:cNvPr>
          <p:cNvSpPr>
            <a:spLocks noGrp="1"/>
          </p:cNvSpPr>
          <p:nvPr/>
        </p:nvSpPr>
        <p:spPr>
          <a:xfrm>
            <a:off x="7124700" y="2171700"/>
            <a:ext cx="24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9750" lnSpcReduction="10000"/>
          </a:bodyPr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AB2C39-4D50-465A-860B-883350987BF2}"/>
              </a:ext>
            </a:extLst>
          </p:cNvPr>
          <p:cNvSpPr>
            <a:spLocks noGrp="1"/>
          </p:cNvSpPr>
          <p:nvPr/>
        </p:nvSpPr>
        <p:spPr>
          <a:xfrm>
            <a:off x="1143000" y="55245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La complessità non sparisce: diventa esplicita, verificabile e sostituibile.</a:t>
            </a:r>
          </a:p>
        </p:txBody>
      </p:sp>
      <p:sp>
        <p:nvSpPr>
          <p:cNvPr id="17" name="Ralf card">
            <a:extLst>
              <a:ext uri="{FF2B5EF4-FFF2-40B4-BE49-F238E27FC236}">
                <a16:creationId xmlns:a16="http://schemas.microsoft.com/office/drawing/2014/main" id="{021F0C28-C471-4067-B58F-54ABD7E08C44}"/>
              </a:ext>
            </a:extLst>
          </p:cNvPr>
          <p:cNvSpPr>
            <a:spLocks noGrp="1"/>
          </p:cNvSpPr>
          <p:nvPr/>
        </p:nvSpPr>
        <p:spPr>
          <a:xfrm>
            <a:off x="9696450" y="2047875"/>
            <a:ext cx="20764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180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0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RALF</a:t>
            </a:r>
          </a:p>
        </p:txBody>
      </p:sp>
      <p:sp>
        <p:nvSpPr>
          <p:cNvPr id="18" name="Ralf description">
            <a:extLst>
              <a:ext uri="{FF2B5EF4-FFF2-40B4-BE49-F238E27FC236}">
                <a16:creationId xmlns:a16="http://schemas.microsoft.com/office/drawing/2014/main" id="{FAEAEC3C-B9D3-46A0-AE81-10BED24528CE}"/>
              </a:ext>
            </a:extLst>
          </p:cNvPr>
          <p:cNvSpPr>
            <a:spLocks noGrp="1"/>
          </p:cNvSpPr>
          <p:nvPr/>
        </p:nvSpPr>
        <p:spPr>
          <a:xfrm>
            <a:off x="9744075" y="2876550"/>
            <a:ext cx="198120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Domanda naturale e spiegazione con evidenze</a:t>
            </a:r>
          </a:p>
        </p:txBody>
      </p:sp>
      <p:sp>
        <p:nvSpPr>
          <p:cNvPr id="19" name="Arrow Fabric to Ralf">
            <a:extLst>
              <a:ext uri="{FF2B5EF4-FFF2-40B4-BE49-F238E27FC236}">
                <a16:creationId xmlns:a16="http://schemas.microsoft.com/office/drawing/2014/main" id="{4888BA4A-2FE0-46DD-9A9F-1244123840E3}"/>
              </a:ext>
            </a:extLst>
          </p:cNvPr>
          <p:cNvSpPr>
            <a:spLocks noGrp="1"/>
          </p:cNvSpPr>
          <p:nvPr/>
        </p:nvSpPr>
        <p:spPr>
          <a:xfrm>
            <a:off x="9448800" y="2171700"/>
            <a:ext cx="2476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275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275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99358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1D342-8348-4ABC-8076-C39B1307EFA0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Dal segnale fisico al linguaggio del business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712DF-2CA7-47DC-B258-62BDF0551FD1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B72889-7F7D-4CB9-9A41-68A97C220B6F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AZURE IoT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FDAC6B-0EE9-44C6-B620-4C2204C3F058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Come collego il mondo fisico?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DBE82-01D7-4C7C-A7A7-33FA73A5A583}"/>
              </a:ext>
            </a:extLst>
          </p:cNvPr>
          <p:cNvSpPr>
            <a:spLocks noGrp="1"/>
          </p:cNvSpPr>
          <p:nvPr/>
        </p:nvSpPr>
        <p:spPr>
          <a:xfrm>
            <a:off x="666750" y="3267075"/>
            <a:ext cx="299085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Dispositivi, edge, identità e flussi.</a:t>
            </a:r>
          </a:p>
          <a:p>
            <a:pPr algn="ctr">
              <a:buNone/>
              <a:def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IoT Hub e Azure IoT Operations portano i segnali nel cloud.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0F9C6-286F-46F5-8270-CE22A15BC8A3}"/>
              </a:ext>
            </a:extLst>
          </p:cNvPr>
          <p:cNvSpPr>
            <a:spLocks noGrp="1"/>
          </p:cNvSpPr>
          <p:nvPr/>
        </p:nvSpPr>
        <p:spPr>
          <a:xfrm>
            <a:off x="1019175" y="473392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CONNECT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3601D1-7B09-409F-807A-E58A9F1F24E1}"/>
              </a:ext>
            </a:extLst>
          </p:cNvPr>
          <p:cNvSpPr>
            <a:spLocks noGrp="1"/>
          </p:cNvSpPr>
          <p:nvPr/>
        </p:nvSpPr>
        <p:spPr>
          <a:xfrm>
            <a:off x="4305300" y="18859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FABRIC RTI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C9AE9-887B-479F-AA5C-8367AC7BBDE2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Che cosa sta accadendo?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C23D1E-B270-4FE1-A492-73D5318794E4}"/>
              </a:ext>
            </a:extLst>
          </p:cNvPr>
          <p:cNvSpPr>
            <a:spLocks noGrp="1"/>
          </p:cNvSpPr>
          <p:nvPr/>
        </p:nvSpPr>
        <p:spPr>
          <a:xfrm>
            <a:off x="4476750" y="3267075"/>
            <a:ext cx="299085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Eventstream acquisisce. Eventhouse conserva. KQL interroga. Activator reagisce.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67C41-D506-4632-BB84-147FF0825A92}"/>
              </a:ext>
            </a:extLst>
          </p:cNvPr>
          <p:cNvSpPr>
            <a:spLocks noGrp="1"/>
          </p:cNvSpPr>
          <p:nvPr/>
        </p:nvSpPr>
        <p:spPr>
          <a:xfrm>
            <a:off x="4829175" y="473392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OBSERVE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2F4FA-4285-42DD-87E7-559996D314DC}"/>
              </a:ext>
            </a:extLst>
          </p:cNvPr>
          <p:cNvSpPr>
            <a:spLocks noGrp="1"/>
          </p:cNvSpPr>
          <p:nvPr/>
        </p:nvSpPr>
        <p:spPr>
          <a:xfrm>
            <a:off x="8115300" y="18859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FABRIC IQ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BA2D8C-2158-4E22-A3BF-33B86D02E15C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Che cosa significa per il business?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B7B863-B3F4-4063-BB44-AE3458941889}"/>
              </a:ext>
            </a:extLst>
          </p:cNvPr>
          <p:cNvSpPr>
            <a:spLocks noGrp="1"/>
          </p:cNvSpPr>
          <p:nvPr/>
        </p:nvSpPr>
        <p:spPr>
          <a:xfrm>
            <a:off x="8286750" y="3267075"/>
            <a:ext cx="299085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42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Ontology, Graph e agenti usano entità, relazioni e regole condivise.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EC4FDB-E90C-482D-B855-6D5C908B403A}"/>
              </a:ext>
            </a:extLst>
          </p:cNvPr>
          <p:cNvSpPr>
            <a:spLocks noGrp="1"/>
          </p:cNvSpPr>
          <p:nvPr/>
        </p:nvSpPr>
        <p:spPr>
          <a:xfrm>
            <a:off x="8639175" y="473392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UNDERSTAND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32107-037C-4B2F-9E73-FC1EDAFA542F}"/>
              </a:ext>
            </a:extLst>
          </p:cNvPr>
          <p:cNvSpPr>
            <a:spLocks noGrp="1"/>
          </p:cNvSpPr>
          <p:nvPr/>
        </p:nvSpPr>
        <p:spPr>
          <a:xfrm>
            <a:off x="3857625" y="2143125"/>
            <a:ext cx="428625" cy="38100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17E33A-1E00-4E89-B55B-B98FAC44CAB0}"/>
              </a:ext>
            </a:extLst>
          </p:cNvPr>
          <p:cNvSpPr>
            <a:spLocks noGrp="1"/>
          </p:cNvSpPr>
          <p:nvPr/>
        </p:nvSpPr>
        <p:spPr>
          <a:xfrm>
            <a:off x="7667625" y="2143125"/>
            <a:ext cx="428625" cy="38100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9071C3-2136-4CCA-B8F3-8C59B7E2AE6D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0BD1A3-A60F-4286-B7D5-CEB67F84A36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Tre livelli cooperativi: connettere gli oggetti, osservare gli eventi, comprendere il contesto.</a:t>
            </a:r>
          </a:p>
        </p:txBody>
      </p:sp>
    </p:spTree>
    <p:extLst>
      <p:ext uri="{BB962C8B-B14F-4D97-AF65-F5344CB8AC3E}">
        <p14:creationId xmlns:p14="http://schemas.microsoft.com/office/powerpoint/2010/main" val="74512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DF5BE0-7E77-41FF-AB1B-1F7364E2400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Scenario fisico canonico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0DE4A-4600-4317-980A-9A4478FF83B9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0587A-5E4F-400B-8AEB-2E79EB118A21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LINEA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8858C2-0A9F-436B-A6A5-E6F00E942CDD}"/>
              </a:ext>
            </a:extLst>
          </p:cNvPr>
          <p:cNvSpPr>
            <a:spLocks noGrp="1"/>
          </p:cNvSpPr>
          <p:nvPr/>
        </p:nvSpPr>
        <p:spPr>
          <a:xfrm>
            <a:off x="400050" y="19716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526A4-EC6D-4EE0-AA66-0BC5553A8E7E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3556000" cy="401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C01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10 m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1,20 m/s nominali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M01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[0,5 m)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5 A nominali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M02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[5,10 m)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5 A nominali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DAF91-1C71-445A-9C5C-3B5A191B3E2E}"/>
              </a:ext>
            </a:extLst>
          </p:cNvPr>
          <p:cNvSpPr>
            <a:spLocks noGrp="1"/>
          </p:cNvSpPr>
          <p:nvPr/>
        </p:nvSpPr>
        <p:spPr>
          <a:xfrm>
            <a:off x="4318000" y="15240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A10F51-8C78-456C-B211-06E9B47E38EF}"/>
              </a:ext>
            </a:extLst>
          </p:cNvPr>
          <p:cNvSpPr>
            <a:spLocks noGrp="1"/>
          </p:cNvSpPr>
          <p:nvPr/>
        </p:nvSpPr>
        <p:spPr>
          <a:xfrm>
            <a:off x="4318000" y="19716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F50DC4-010B-4825-886E-4BA29C808370}"/>
              </a:ext>
            </a:extLst>
          </p:cNvPr>
          <p:cNvSpPr>
            <a:spLocks noGrp="1"/>
          </p:cNvSpPr>
          <p:nvPr/>
        </p:nvSpPr>
        <p:spPr>
          <a:xfrm>
            <a:off x="4318000" y="2143125"/>
            <a:ext cx="3556000" cy="401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P001  6 kg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P002  14 kg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P003  9 kg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P004  18 kg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Tutti percorrono C01 e terminano su T01.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7813C5-D6A3-4AA1-BFCB-09493A598179}"/>
              </a:ext>
            </a:extLst>
          </p:cNvPr>
          <p:cNvSpPr>
            <a:spLocks noGrp="1"/>
          </p:cNvSpPr>
          <p:nvPr/>
        </p:nvSpPr>
        <p:spPr>
          <a:xfrm>
            <a:off x="8235950" y="15240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REGOLA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2DAD2F-47D9-4A98-A104-DC7E613AA0CD}"/>
              </a:ext>
            </a:extLst>
          </p:cNvPr>
          <p:cNvSpPr>
            <a:spLocks noGrp="1"/>
          </p:cNvSpPr>
          <p:nvPr/>
        </p:nvSpPr>
        <p:spPr>
          <a:xfrm>
            <a:off x="8235950" y="19716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39CA3-CE6A-4E3B-9C48-4776239553A0}"/>
              </a:ext>
            </a:extLst>
          </p:cNvPr>
          <p:cNvSpPr>
            <a:spLocks noGrp="1"/>
          </p:cNvSpPr>
          <p:nvPr/>
        </p:nvSpPr>
        <p:spPr>
          <a:xfrm>
            <a:off x="8235950" y="2143125"/>
            <a:ext cx="3556000" cy="401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Corrente della zona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5 A + Σ(peso × 0,30)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A 10 m il package ha lasciato il conveyor e non pesa più su M02.</a:t>
            </a:r>
          </a:p>
        </p:txBody>
      </p:sp>
    </p:spTree>
    <p:extLst>
      <p:ext uri="{BB962C8B-B14F-4D97-AF65-F5344CB8AC3E}">
        <p14:creationId xmlns:p14="http://schemas.microsoft.com/office/powerpoint/2010/main" val="175952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CFE63E-60BC-482A-A54B-CB98D6EA1A8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Le domande a cui risponde il sistema</a:t>
            </a:r>
            <a:endParaRPr sz="2850" b="1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005E5-2550-4F3A-BD6D-3B3450C6DCB8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27511-562B-4EE8-B8FC-7DE9018F79DD}"/>
              </a:ext>
            </a:extLst>
          </p:cNvPr>
          <p:cNvSpPr>
            <a:spLocks noGrp="1"/>
          </p:cNvSpPr>
          <p:nvPr/>
        </p:nvSpPr>
        <p:spPr>
          <a:xfrm>
            <a:off x="1314450" y="14859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Che cosa rappresenta M02? Ontology definisce asset e proprietà</a:t>
            </a:r>
            <a:endParaRPr sz="1750" b="1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C48BD-40B3-40D3-8EBA-5C68EE4A229E}"/>
              </a:ext>
            </a:extLst>
          </p:cNvPr>
          <p:cNvSpPr>
            <a:spLocks noGrp="1"/>
          </p:cNvSpPr>
          <p:nvPr/>
        </p:nvSpPr>
        <p:spPr>
          <a:xfrm>
            <a:off x="1314450" y="22669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0BD14-5949-414E-A14D-33B7B8172D40}"/>
              </a:ext>
            </a:extLst>
          </p:cNvPr>
          <p:cNvSpPr>
            <a:spLocks noGrp="1"/>
          </p:cNvSpPr>
          <p:nvPr/>
        </p:nvSpPr>
        <p:spPr>
          <a:xfrm>
            <a:off x="1314450" y="23622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Come sono collegati? Graph percorre le relazioni tra asset</a:t>
            </a:r>
            <a:endParaRPr sz="17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BE63D-953B-476F-80C8-38D3F172EA65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4BBFD-EFE7-4101-A69A-E3EDD150DC43}"/>
              </a:ext>
            </a:extLst>
          </p:cNvPr>
          <p:cNvSpPr>
            <a:spLocks noGrp="1"/>
          </p:cNvSpPr>
          <p:nvPr/>
        </p:nvSpPr>
        <p:spPr>
          <a:xfrm>
            <a:off x="1314450" y="32385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Che stato ha P004? Builder mostra proprietà e serie</a:t>
            </a:r>
            <a:endParaRPr sz="17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B5BF5-9F34-4F7A-B744-D251BAEDEC39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E7D56-60FA-4A67-9197-970E5E46B85D}"/>
              </a:ext>
            </a:extLst>
          </p:cNvPr>
          <p:cNvSpPr>
            <a:spLocks noGrp="1"/>
          </p:cNvSpPr>
          <p:nvPr/>
        </p:nvSpPr>
        <p:spPr>
          <a:xfrm>
            <a:off x="1314450" y="41148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Chi era nella zona al picco? KQL incrocia misure in Eventhouse</a:t>
            </a:r>
            <a:endParaRPr sz="17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58DAEF-9AE1-4942-BD61-083FAD1DBEAC}"/>
              </a:ext>
            </a:extLst>
          </p:cNvPr>
          <p:cNvSpPr>
            <a:spLocks noGrp="1"/>
          </p:cNvSpPr>
          <p:nvPr/>
        </p:nvSpPr>
        <p:spPr>
          <a:xfrm>
            <a:off x="1314450" y="48958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ACE4A5-64F5-46F4-8F33-4A497E760E12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Chi pesa di più? KQL combina carico, peso, posizione e corrente</a:t>
            </a:r>
            <a:endParaRPr sz="1750" b="0" i="0">
              <a:solidFill>
                <a:srgbClr val="10101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047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1F52-AE01-006F-4658-45A043BBDCFB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M02 raggiunge 13,1 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6A4E491-F2BA-48FD-AC49-E0893904F58D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D9B9C-3F72-34CE-09A7-972EC0B6B29D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package erano nella zona di M02 in quellʼistante?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F415661-7692-4AE8-BDCD-00F7BF0EA47C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E845E-6C5F-5FE5-ACDB-930AD074BD08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di quei package sono stati caricati su T01?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0488426-DDAA-48B4-B5F4-612383D8C5D3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BC1DE5-D8B3-31AF-FBCB-798230D991C2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Quale package ha il contributo stimato maggiore?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9F045D1-FDE8-4F35-B515-AEDB8077770F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1A01C6-82B4-1EC3-7961-BB5FE488F6F6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parti della risposta sono osservate?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2088943-C83B-429C-BF8B-2EAE15122CA0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F6D8DD-9644-7A4B-5C07-9ED6744E9651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parti derivano dal modello?</a:t>
            </a:r>
          </a:p>
        </p:txBody>
      </p:sp>
      <p:pic>
        <p:nvPicPr>
          <p:cNvPr id="3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2247"/>
            <a:ext cx="2376401" cy="238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1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83D0E-D4A8-3686-1695-F273BFF03EDF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Perché una tabella non basta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D142ECA-3242-4A35-8899-23A80940BA2A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0"/>
            <a:ext cx="1905000" cy="1909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986D20-FFAE-BB60-7BE5-E7B343E30804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MotorTelemetry contiene ampere, ma non contiene PackageId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175C56D-F201-44BD-921C-33C6DBB72A88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D931C-4A07-C2D5-33AC-7C151C02F89C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PackageTelemetry contiene posizione, ma non contiene la zona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999633F-CC70-401E-A7FD-6C75BF7F28C1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52550-C010-A2FB-292A-CDE2CD4E997E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Packages contiene peso, ma non contiene il tempo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ED9F724-C8F0-4129-884D-76378DCF1FAB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49271-84D6-129A-53BC-ED8B9196DF02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PackageTruckEvents contiene il carico, ma non misura corrente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27C06D5-3B86-47FC-9389-665BA7339EF7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C94BFC-74BB-F19D-CBE5-EC0ACC2FDF5A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Le relazioni statiche non dicono chi era dove in un istante</a:t>
            </a:r>
          </a:p>
        </p:txBody>
      </p:sp>
    </p:spTree>
    <p:extLst>
      <p:ext uri="{BB962C8B-B14F-4D97-AF65-F5344CB8AC3E}">
        <p14:creationId xmlns:p14="http://schemas.microsoft.com/office/powerpoint/2010/main" val="258143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56B1B1-4F2A-867E-E92E-745290E2684D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Una risposta con cinque prove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5F8D8FC-9200-4112-90EA-B6E4CBA14451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1"/>
            <a:ext cx="1905000" cy="190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F6A90-6DA3-C146-43E3-453D4CFD7224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RunId identifica la corsa che stiamo analizzando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A0D1CF8-0CA0-482B-8664-CD837D9B2D2F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9AF67-90A2-5750-B874-8387A9E35EDD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Timestamp accoppia posizione e corrente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FEECCD9-6423-4DD0-80E6-C6B1EF3D9EC2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0532A3-A403-0C05-86F9-71BFE5D9EC78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La topologia traduce una posizione in una zona motore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DF57864-D5E5-4B47-8C3C-F7B3690610D4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23005-FC52-A465-0B3D-2BA8AB8908E5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master data fornisce il peso del package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ACD068D-F2FD-4607-8A85-B16C9A1FB32B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F2DF35-5288-3D7F-BAFB-5B9780942AAF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Lʼevento PackageLoaded collega il package a T01</a:t>
            </a:r>
          </a:p>
        </p:txBody>
      </p:sp>
    </p:spTree>
    <p:extLst>
      <p:ext uri="{BB962C8B-B14F-4D97-AF65-F5344CB8AC3E}">
        <p14:creationId xmlns:p14="http://schemas.microsoft.com/office/powerpoint/2010/main" val="2955346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CC3ACE-D3DF-AD69-7509-69D414CA1608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0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Partiamo dalle entità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5D801-DA15-5DD3-C706-D6F6DA10145E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05D1FF-E21B-59AE-05E7-8547B8C4A97C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0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Prima delle tecnologie vengono gli oggetti reali, le loro identità e ciò che possiamo osservare.</a:t>
            </a:r>
          </a:p>
        </p:txBody>
      </p:sp>
    </p:spTree>
    <p:extLst>
      <p:ext uri="{BB962C8B-B14F-4D97-AF65-F5344CB8AC3E}">
        <p14:creationId xmlns:p14="http://schemas.microsoft.com/office/powerpoint/2010/main" val="95175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EA7AB-777C-8B51-20AB-0C26FEFE38A0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Conveyor C01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C03CC5F-AB72-45F7-944D-55AF90531208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2F1EC0-EAE8-7126-E299-11A0A2384FC0}"/>
              </a:ext>
            </a:extLst>
          </p:cNvPr>
          <p:cNvSpPr>
            <a:spLocks noGrp="1"/>
          </p:cNvSpPr>
          <p:nvPr/>
        </p:nvSpPr>
        <p:spPr>
          <a:xfrm>
            <a:off x="4445000" y="1676400"/>
            <a:ext cx="7048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067F2-157F-BAED-4C58-996F170DE4A5}"/>
              </a:ext>
            </a:extLst>
          </p:cNvPr>
          <p:cNvSpPr>
            <a:spLocks noGrp="1"/>
          </p:cNvSpPr>
          <p:nvPr/>
        </p:nvSpPr>
        <p:spPr>
          <a:xfrm>
            <a:off x="4673600" y="1905000"/>
            <a:ext cx="6604000" cy="43088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Che cosa resta stabile?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D16D1-7456-E769-8BD8-7E07EF2A2AED}"/>
              </a:ext>
            </a:extLst>
          </p:cNvPr>
          <p:cNvSpPr>
            <a:spLocks noGrp="1"/>
          </p:cNvSpPr>
          <p:nvPr/>
        </p:nvSpPr>
        <p:spPr>
          <a:xfrm>
            <a:off x="4699000" y="31750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Identity key: ConveyorId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62A657D-EDA3-44B1-8DFD-2A94CD1B9B0A}"/>
              </a:ext>
            </a:extLst>
          </p:cNvPr>
          <p:cNvSpPr>
            <a:spLocks noGrp="1"/>
          </p:cNvSpPr>
          <p:nvPr/>
        </p:nvSpPr>
        <p:spPr>
          <a:xfrm>
            <a:off x="4673600" y="37846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736754-BA7B-47C1-3BE3-A83CF249FD0D}"/>
              </a:ext>
            </a:extLst>
          </p:cNvPr>
          <p:cNvSpPr>
            <a:spLocks noGrp="1"/>
          </p:cNvSpPr>
          <p:nvPr/>
        </p:nvSpPr>
        <p:spPr>
          <a:xfrm>
            <a:off x="4699000" y="39116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Lunghezza: 10 m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DC78729-A022-46B9-AF58-FD171FB9BC2B}"/>
              </a:ext>
            </a:extLst>
          </p:cNvPr>
          <p:cNvSpPr>
            <a:spLocks noGrp="1"/>
          </p:cNvSpPr>
          <p:nvPr/>
        </p:nvSpPr>
        <p:spPr>
          <a:xfrm>
            <a:off x="4673600" y="45212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403DA-27DC-646D-EFB3-00504CC4A697}"/>
              </a:ext>
            </a:extLst>
          </p:cNvPr>
          <p:cNvSpPr>
            <a:spLocks noGrp="1"/>
          </p:cNvSpPr>
          <p:nvPr/>
        </p:nvSpPr>
        <p:spPr>
          <a:xfrm>
            <a:off x="4699000" y="46482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Velocità nominale: 1,20 m/s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44C91D0-0F1E-415A-9A37-33EDFA2DA7DF}"/>
              </a:ext>
            </a:extLst>
          </p:cNvPr>
          <p:cNvSpPr>
            <a:spLocks noGrp="1"/>
          </p:cNvSpPr>
          <p:nvPr/>
        </p:nvSpPr>
        <p:spPr>
          <a:xfrm>
            <a:off x="4673600" y="52578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C4C74-AB4A-E635-D4F3-99023E5E1962}"/>
              </a:ext>
            </a:extLst>
          </p:cNvPr>
          <p:cNvSpPr>
            <a:spLocks noGrp="1"/>
          </p:cNvSpPr>
          <p:nvPr/>
        </p:nvSpPr>
        <p:spPr>
          <a:xfrm>
            <a:off x="4699000" y="53848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Osservazione: SpeedMetersPerSecond</a:t>
            </a:r>
          </a:p>
        </p:txBody>
      </p:sp>
      <p:pic>
        <p:nvPicPr>
          <p:cNvPr id="3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050492"/>
            <a:ext cx="3872523" cy="193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0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6FFD1-CCBB-6B2E-519E-723B422BB328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Motor M01 e M02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FC69553-CA2E-4CFF-968E-00CD10433EB1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94546-F5B7-1F86-2EC6-F4FC4944B0F3}"/>
              </a:ext>
            </a:extLst>
          </p:cNvPr>
          <p:cNvSpPr>
            <a:spLocks noGrp="1"/>
          </p:cNvSpPr>
          <p:nvPr/>
        </p:nvSpPr>
        <p:spPr>
          <a:xfrm>
            <a:off x="4445000" y="1676400"/>
            <a:ext cx="7048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D0884-EE54-6877-2EFC-23BEB061A399}"/>
              </a:ext>
            </a:extLst>
          </p:cNvPr>
          <p:cNvSpPr>
            <a:spLocks noGrp="1"/>
          </p:cNvSpPr>
          <p:nvPr/>
        </p:nvSpPr>
        <p:spPr>
          <a:xfrm>
            <a:off x="4673600" y="1905000"/>
            <a:ext cx="6604000" cy="43088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Come dividiamo il conveyor?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D8EA8-1B65-D3F8-E752-8CF0E0918072}"/>
              </a:ext>
            </a:extLst>
          </p:cNvPr>
          <p:cNvSpPr>
            <a:spLocks noGrp="1"/>
          </p:cNvSpPr>
          <p:nvPr/>
        </p:nvSpPr>
        <p:spPr>
          <a:xfrm>
            <a:off x="4699000" y="31750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Identity key: MotorId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4A6121B-4B61-4DB2-B48B-4B90EB3A0DA7}"/>
              </a:ext>
            </a:extLst>
          </p:cNvPr>
          <p:cNvSpPr>
            <a:spLocks noGrp="1"/>
          </p:cNvSpPr>
          <p:nvPr/>
        </p:nvSpPr>
        <p:spPr>
          <a:xfrm>
            <a:off x="4673600" y="37846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09568-B424-0016-EFEF-285D467E0889}"/>
              </a:ext>
            </a:extLst>
          </p:cNvPr>
          <p:cNvSpPr>
            <a:spLocks noGrp="1"/>
          </p:cNvSpPr>
          <p:nvPr/>
        </p:nvSpPr>
        <p:spPr>
          <a:xfrm>
            <a:off x="4699000" y="39116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M01 copre [0,5 m)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DF3F38A-C264-40EC-BA8E-EBB9EF93ACD5}"/>
              </a:ext>
            </a:extLst>
          </p:cNvPr>
          <p:cNvSpPr>
            <a:spLocks noGrp="1"/>
          </p:cNvSpPr>
          <p:nvPr/>
        </p:nvSpPr>
        <p:spPr>
          <a:xfrm>
            <a:off x="4673600" y="45212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E87FF-B01A-7872-9188-639F005856CF}"/>
              </a:ext>
            </a:extLst>
          </p:cNvPr>
          <p:cNvSpPr>
            <a:spLocks noGrp="1"/>
          </p:cNvSpPr>
          <p:nvPr/>
        </p:nvSpPr>
        <p:spPr>
          <a:xfrm>
            <a:off x="4699000" y="46482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M02 copre [5,10 m)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4692710-1353-4C2D-80BD-47A6285A15BF}"/>
              </a:ext>
            </a:extLst>
          </p:cNvPr>
          <p:cNvSpPr>
            <a:spLocks noGrp="1"/>
          </p:cNvSpPr>
          <p:nvPr/>
        </p:nvSpPr>
        <p:spPr>
          <a:xfrm>
            <a:off x="4673600" y="52578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DA2E5-2465-A08F-F338-65FC57E408E3}"/>
              </a:ext>
            </a:extLst>
          </p:cNvPr>
          <p:cNvSpPr>
            <a:spLocks noGrp="1"/>
          </p:cNvSpPr>
          <p:nvPr/>
        </p:nvSpPr>
        <p:spPr>
          <a:xfrm>
            <a:off x="4699000" y="53848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Osservazione: CurrentAmps</a:t>
            </a:r>
          </a:p>
        </p:txBody>
      </p:sp>
      <p:pic>
        <p:nvPicPr>
          <p:cNvPr id="3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694129"/>
            <a:ext cx="2402691" cy="240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90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24E6A-01FC-9510-E5B4-0E3F51CA4A65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 P001–P004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4083C47-8F32-4145-8DE2-CAE7F41E29E9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053D2-99A4-64E1-F56E-7DC8EE1A5724}"/>
              </a:ext>
            </a:extLst>
          </p:cNvPr>
          <p:cNvSpPr>
            <a:spLocks noGrp="1"/>
          </p:cNvSpPr>
          <p:nvPr/>
        </p:nvSpPr>
        <p:spPr>
          <a:xfrm>
            <a:off x="4445000" y="1676400"/>
            <a:ext cx="7048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4DCE7-92CB-8408-C7BF-E1FD9166425A}"/>
              </a:ext>
            </a:extLst>
          </p:cNvPr>
          <p:cNvSpPr>
            <a:spLocks noGrp="1"/>
          </p:cNvSpPr>
          <p:nvPr/>
        </p:nvSpPr>
        <p:spPr>
          <a:xfrm>
            <a:off x="4673600" y="1905000"/>
            <a:ext cx="6604000" cy="43088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Che cosa cambia durante la corsa?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75997-9134-744A-8DC5-5B4C27F3C104}"/>
              </a:ext>
            </a:extLst>
          </p:cNvPr>
          <p:cNvSpPr>
            <a:spLocks noGrp="1"/>
          </p:cNvSpPr>
          <p:nvPr/>
        </p:nvSpPr>
        <p:spPr>
          <a:xfrm>
            <a:off x="4699000" y="31750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Identity key: PackageId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F852B63-6135-40A1-BE84-1F4FC99D0BB6}"/>
              </a:ext>
            </a:extLst>
          </p:cNvPr>
          <p:cNvSpPr>
            <a:spLocks noGrp="1"/>
          </p:cNvSpPr>
          <p:nvPr/>
        </p:nvSpPr>
        <p:spPr>
          <a:xfrm>
            <a:off x="4673600" y="37846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3C046-DF6E-9DBD-1972-C4E9DCEA743C}"/>
              </a:ext>
            </a:extLst>
          </p:cNvPr>
          <p:cNvSpPr>
            <a:spLocks noGrp="1"/>
          </p:cNvSpPr>
          <p:nvPr/>
        </p:nvSpPr>
        <p:spPr>
          <a:xfrm>
            <a:off x="4699000" y="39116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Peso statico: 6, 14, 9 e 18 kg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B9AD47E-2D16-48B4-B857-6BBE92348A33}"/>
              </a:ext>
            </a:extLst>
          </p:cNvPr>
          <p:cNvSpPr>
            <a:spLocks noGrp="1"/>
          </p:cNvSpPr>
          <p:nvPr/>
        </p:nvSpPr>
        <p:spPr>
          <a:xfrm>
            <a:off x="4673600" y="45212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5BC31-1D26-DF23-A912-09BDE6C5A591}"/>
              </a:ext>
            </a:extLst>
          </p:cNvPr>
          <p:cNvSpPr>
            <a:spLocks noGrp="1"/>
          </p:cNvSpPr>
          <p:nvPr/>
        </p:nvSpPr>
        <p:spPr>
          <a:xfrm>
            <a:off x="4699000" y="46482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Osservazione: PositionMeters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007C014-DC31-43C5-A740-9454350D893F}"/>
              </a:ext>
            </a:extLst>
          </p:cNvPr>
          <p:cNvSpPr>
            <a:spLocks noGrp="1"/>
          </p:cNvSpPr>
          <p:nvPr/>
        </p:nvSpPr>
        <p:spPr>
          <a:xfrm>
            <a:off x="4673600" y="52578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FC7C54-B071-E385-8E09-67FC39738BB0}"/>
              </a:ext>
            </a:extLst>
          </p:cNvPr>
          <p:cNvSpPr>
            <a:spLocks noGrp="1"/>
          </p:cNvSpPr>
          <p:nvPr/>
        </p:nvSpPr>
        <p:spPr>
          <a:xfrm>
            <a:off x="4699000" y="53848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P004 parte vicino alla zona M02</a:t>
            </a:r>
          </a:p>
        </p:txBody>
      </p:sp>
      <p:pic>
        <p:nvPicPr>
          <p:cNvPr id="31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30" y="1676400"/>
            <a:ext cx="2845470" cy="285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28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9C7BC-C449-FD09-1242-5F2136083F0B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Truck T01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30F33E8-9895-4ADC-B91F-89A1E7727D32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6E1763-1590-412B-A5A9-AC8DC4AEB38E}"/>
              </a:ext>
            </a:extLst>
          </p:cNvPr>
          <p:cNvSpPr>
            <a:spLocks noGrp="1"/>
          </p:cNvSpPr>
          <p:nvPr/>
        </p:nvSpPr>
        <p:spPr>
          <a:xfrm>
            <a:off x="4445000" y="1676400"/>
            <a:ext cx="7048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53F6B-3532-80E2-C752-FB8C06C21B01}"/>
              </a:ext>
            </a:extLst>
          </p:cNvPr>
          <p:cNvSpPr>
            <a:spLocks noGrp="1"/>
          </p:cNvSpPr>
          <p:nvPr/>
        </p:nvSpPr>
        <p:spPr>
          <a:xfrm>
            <a:off x="4673600" y="1905000"/>
            <a:ext cx="6604000" cy="43088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Come sappiamo che il viaggio è finito?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61E9E0-FEBD-091C-F4E2-CF85BECDB5CF}"/>
              </a:ext>
            </a:extLst>
          </p:cNvPr>
          <p:cNvSpPr>
            <a:spLocks noGrp="1"/>
          </p:cNvSpPr>
          <p:nvPr/>
        </p:nvSpPr>
        <p:spPr>
          <a:xfrm>
            <a:off x="4699000" y="31750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Identity key: TruckId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31BEC20-FBFA-46F9-B0D6-FEB2BD9DED05}"/>
              </a:ext>
            </a:extLst>
          </p:cNvPr>
          <p:cNvSpPr>
            <a:spLocks noGrp="1"/>
          </p:cNvSpPr>
          <p:nvPr/>
        </p:nvSpPr>
        <p:spPr>
          <a:xfrm>
            <a:off x="4673600" y="37846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B992EC-7973-16A8-630A-C54D2F0B9A8B}"/>
              </a:ext>
            </a:extLst>
          </p:cNvPr>
          <p:cNvSpPr>
            <a:spLocks noGrp="1"/>
          </p:cNvSpPr>
          <p:nvPr/>
        </p:nvSpPr>
        <p:spPr>
          <a:xfrm>
            <a:off x="4699000" y="39116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Nome: Loading truck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2DA6E0C-80CC-4B9E-A6EC-59D8DC93FC30}"/>
              </a:ext>
            </a:extLst>
          </p:cNvPr>
          <p:cNvSpPr>
            <a:spLocks noGrp="1"/>
          </p:cNvSpPr>
          <p:nvPr/>
        </p:nvSpPr>
        <p:spPr>
          <a:xfrm>
            <a:off x="4673600" y="45212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512AE-A7B3-3C3C-FBB0-A46990D0C0C9}"/>
              </a:ext>
            </a:extLst>
          </p:cNvPr>
          <p:cNvSpPr>
            <a:spLocks noGrp="1"/>
          </p:cNvSpPr>
          <p:nvPr/>
        </p:nvSpPr>
        <p:spPr>
          <a:xfrm>
            <a:off x="4699000" y="46482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truck cambia stato tramite eventi di carico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FC27C4F-86F9-4822-AC13-81C9FC29D2FE}"/>
              </a:ext>
            </a:extLst>
          </p:cNvPr>
          <p:cNvSpPr>
            <a:spLocks noGrp="1"/>
          </p:cNvSpPr>
          <p:nvPr/>
        </p:nvSpPr>
        <p:spPr>
          <a:xfrm>
            <a:off x="4673600" y="5257800"/>
            <a:ext cx="66294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C29E2D-B124-7715-3C3A-7533F2A41E8B}"/>
              </a:ext>
            </a:extLst>
          </p:cNvPr>
          <p:cNvSpPr>
            <a:spLocks noGrp="1"/>
          </p:cNvSpPr>
          <p:nvPr/>
        </p:nvSpPr>
        <p:spPr>
          <a:xfrm>
            <a:off x="4699000" y="5384800"/>
            <a:ext cx="6477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Evento: PackageLoaded</a:t>
            </a:r>
          </a:p>
        </p:txBody>
      </p:sp>
      <p:pic>
        <p:nvPicPr>
          <p:cNvPr id="3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185916"/>
            <a:ext cx="3080959" cy="308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3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4C9507-2715-BC45-5712-B1A431BC245C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Identità e osservazioni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BA14DB0-6E18-4565-B88A-3B4A31045A74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1"/>
            <a:ext cx="1905000" cy="190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05D93E-A835-8E90-19FE-889DB0AB6259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ConveyorId, MotorId, PackageId e TruckId restano stabili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D2DDC3A-8097-47CA-9087-1D84FBF9A1D1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69554-8A80-4942-A8D3-273DB1B73A5B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Timestamp ordina ciò che cambia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FA2E772-6D75-40CC-B9C0-143FFB3A9E4F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7910B-4072-E5D2-DA45-08401ABC8CA1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RunId impedisce di mescolare simulazioni diverse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592CA08-F682-4FF1-BDCE-A6E722ADC373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D2B62A-CF6E-A64F-2023-0DE198D26B97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Master data descrive capacità e topologia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8B706C1-B285-4DB4-A272-D53A2FBE97F2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77105-19BB-EDFE-18DD-6A8BC4C0ABCB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Telemetry ed eventi descrivono ciò che è accaduto</a:t>
            </a:r>
          </a:p>
        </p:txBody>
      </p:sp>
    </p:spTree>
    <p:extLst>
      <p:ext uri="{BB962C8B-B14F-4D97-AF65-F5344CB8AC3E}">
        <p14:creationId xmlns:p14="http://schemas.microsoft.com/office/powerpoint/2010/main" val="191419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F2836A-3E1D-D074-4062-2705DD802F96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Oltre il database relazionale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D4688-F4A1-4C00-E0D0-83A9F86C4AC8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70E63-EEE3-CD9E-2844-2A4BA8691F89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Perché servono tempo, semantica e relazioni oltre alle tabelle?</a:t>
            </a:r>
          </a:p>
        </p:txBody>
      </p:sp>
    </p:spTree>
    <p:extLst>
      <p:ext uri="{BB962C8B-B14F-4D97-AF65-F5344CB8AC3E}">
        <p14:creationId xmlns:p14="http://schemas.microsoft.com/office/powerpoint/2010/main" val="2167376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BA9A2E-8C3C-423C-BF30-E4DF4DC6BBDC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Dalla filosofia all'ingegneria della conoscenza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7F921-840B-44EC-B542-26ED26044DFA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19D11-DD4A-4E59-8AEB-714C87DFA2CB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4381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3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33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054B4-449D-45F4-896F-619E7ECCFAA4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3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ón / ontos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3C2AA-0C45-41E0-874F-F1CBC4FDB00F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essere, ciò che 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E6C5F-5FD9-4B46-B299-F85E3E8197DD}"/>
              </a:ext>
            </a:extLst>
          </p:cNvPr>
          <p:cNvSpPr>
            <a:spLocks noGrp="1"/>
          </p:cNvSpPr>
          <p:nvPr/>
        </p:nvSpPr>
        <p:spPr>
          <a:xfrm>
            <a:off x="3390900" y="2571750"/>
            <a:ext cx="47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57BCD-5EC8-481D-8EA8-AF5ECF23030E}"/>
              </a:ext>
            </a:extLst>
          </p:cNvPr>
          <p:cNvSpPr>
            <a:spLocks noGrp="1"/>
          </p:cNvSpPr>
          <p:nvPr/>
        </p:nvSpPr>
        <p:spPr>
          <a:xfrm>
            <a:off x="4000500" y="25146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3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lógos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A3F6E3-1F0B-4339-851A-E5799DFA70E9}"/>
              </a:ext>
            </a:extLst>
          </p:cNvPr>
          <p:cNvSpPr>
            <a:spLocks noGrp="1"/>
          </p:cNvSpPr>
          <p:nvPr/>
        </p:nvSpPr>
        <p:spPr>
          <a:xfrm>
            <a:off x="4000500" y="28765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studio, discorso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0B4930-841B-4A93-9EC2-AE48757B4EF4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4476750" cy="1762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Aristotele parla della scienza dell'essere in quanto essere. Il termine ontologia si afferma nella filosofia moderna e passa poi all'informatica come specifica esplicita di una concettualizzazione.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51D67-A5C2-4323-AAA6-D1946AF66CCC}"/>
              </a:ext>
            </a:extLst>
          </p:cNvPr>
          <p:cNvSpPr>
            <a:spLocks noGrp="1"/>
          </p:cNvSpPr>
          <p:nvPr/>
        </p:nvSpPr>
        <p:spPr>
          <a:xfrm>
            <a:off x="400050" y="4048125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E28BD-A525-446B-9181-3018D0472396}"/>
              </a:ext>
            </a:extLst>
          </p:cNvPr>
          <p:cNvSpPr>
            <a:spLocks noGrp="1"/>
          </p:cNvSpPr>
          <p:nvPr/>
        </p:nvSpPr>
        <p:spPr>
          <a:xfrm>
            <a:off x="590550" y="4362450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ENTITÀ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DBD68-AEB0-4FE3-8D94-9D69275655CA}"/>
              </a:ext>
            </a:extLst>
          </p:cNvPr>
          <p:cNvSpPr>
            <a:spLocks noGrp="1"/>
          </p:cNvSpPr>
          <p:nvPr/>
        </p:nvSpPr>
        <p:spPr>
          <a:xfrm>
            <a:off x="4810125" y="4362450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PROPRIETÀ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5583B0-CDD3-4FAA-89BD-D75AC05C37AE}"/>
              </a:ext>
            </a:extLst>
          </p:cNvPr>
          <p:cNvSpPr>
            <a:spLocks noGrp="1"/>
          </p:cNvSpPr>
          <p:nvPr/>
        </p:nvSpPr>
        <p:spPr>
          <a:xfrm>
            <a:off x="9029700" y="4362450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0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RELAZIONI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1DAC50-F56C-4218-AE9C-437B9B360F49}"/>
              </a:ext>
            </a:extLst>
          </p:cNvPr>
          <p:cNvSpPr>
            <a:spLocks noGrp="1"/>
          </p:cNvSpPr>
          <p:nvPr/>
        </p:nvSpPr>
        <p:spPr>
          <a:xfrm>
            <a:off x="1190625" y="5334000"/>
            <a:ext cx="9810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0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In informatica queste scelte diventano leggibili dalle persone e interpretabili dal software.</a:t>
            </a:r>
          </a:p>
        </p:txBody>
      </p:sp>
    </p:spTree>
    <p:extLst>
      <p:ext uri="{BB962C8B-B14F-4D97-AF65-F5344CB8AC3E}">
        <p14:creationId xmlns:p14="http://schemas.microsoft.com/office/powerpoint/2010/main" val="16933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63F2A6-B4B1-4041-915E-32C149A8336E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Ontologia e Digital Twin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29467-47E6-419B-8455-153C5A522D0F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D2C66-228D-46D5-8540-AFC5F399386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9CB6F-BB5D-44AB-B2F0-BBC2699EF60B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3095625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Che tipi di cose esistono?</a:t>
            </a:r>
          </a:p>
          <a:p>
            <a:pPr algn="ctr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Quali proprietà e relazioni ammettiamo?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DE931-EB57-42A2-9F5D-2246DE2BB23C}"/>
              </a:ext>
            </a:extLst>
          </p:cNvPr>
          <p:cNvSpPr>
            <a:spLocks noGrp="1"/>
          </p:cNvSpPr>
          <p:nvPr/>
        </p:nvSpPr>
        <p:spPr>
          <a:xfrm>
            <a:off x="4095750" y="2381250"/>
            <a:ext cx="1143000" cy="38100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4B475A-E358-4CD4-AFE0-C015A735C01C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12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modello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69569-8C58-4C57-A7E5-EE88569A33EA}"/>
              </a:ext>
            </a:extLst>
          </p:cNvPr>
          <p:cNvSpPr>
            <a:spLocks noGrp="1"/>
          </p:cNvSpPr>
          <p:nvPr/>
        </p:nvSpPr>
        <p:spPr>
          <a:xfrm>
            <a:off x="5619750" y="1952625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550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DIGITAL TWIN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D6BC9-790F-41A2-9DCC-F6DBCBE02CA4}"/>
              </a:ext>
            </a:extLst>
          </p:cNvPr>
          <p:cNvSpPr>
            <a:spLocks noGrp="1"/>
          </p:cNvSpPr>
          <p:nvPr/>
        </p:nvSpPr>
        <p:spPr>
          <a:xfrm>
            <a:off x="5810250" y="2667000"/>
            <a:ext cx="32385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Quali istanze sono presenti?</a:t>
            </a:r>
          </a:p>
          <a:p>
            <a:pPr algn="ctr">
              <a:buNone/>
              <a:def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75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Qual è il loro stato in questo momento o RunId?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D6F82-B971-4217-A2F5-26E418E3E383}"/>
              </a:ext>
            </a:extLst>
          </p:cNvPr>
          <p:cNvSpPr>
            <a:spLocks noGrp="1"/>
          </p:cNvSpPr>
          <p:nvPr/>
        </p:nvSpPr>
        <p:spPr>
          <a:xfrm>
            <a:off x="9620250" y="1952625"/>
            <a:ext cx="1857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875" b="1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2648CE-1BC2-43B1-AB99-04F62B2E0942}"/>
              </a:ext>
            </a:extLst>
          </p:cNvPr>
          <p:cNvSpPr>
            <a:spLocks noGrp="1"/>
          </p:cNvSpPr>
          <p:nvPr/>
        </p:nvSpPr>
        <p:spPr>
          <a:xfrm>
            <a:off x="9620250" y="2571750"/>
            <a:ext cx="1857375" cy="1162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M01  M02</a:t>
            </a:r>
          </a:p>
          <a:p>
            <a:pPr algn="ctr">
              <a:buNone/>
              <a:def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P001…P004</a:t>
            </a:r>
          </a:p>
          <a:p>
            <a:pPr algn="ctr">
              <a:buNone/>
              <a:def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E1D136-1310-4D26-9687-7C11BECBF370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11391900" cy="28575"/>
          </a:xfrm>
          <a:prstGeom prst="rect">
            <a:avLst/>
          </a:prstGeom>
          <a:solidFill>
            <a:srgbClr val="111111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75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CFE63E-60BC-482A-A54B-CB98D6EA1A8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Perché la risposta richiede più sorgenti</a:t>
            </a:r>
            <a:endParaRPr sz="28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005E5-2550-4F3A-BD6D-3B3450C6DCB8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27511-562B-4EE8-B8FC-7DE9018F79DD}"/>
              </a:ext>
            </a:extLst>
          </p:cNvPr>
          <p:cNvSpPr>
            <a:spLocks noGrp="1"/>
          </p:cNvSpPr>
          <p:nvPr/>
        </p:nvSpPr>
        <p:spPr>
          <a:xfrm>
            <a:off x="1314450" y="14859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13,1 A viene da MotorTelemetry: manca il package</a:t>
            </a:r>
            <a:endParaRPr sz="17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C48BD-40B3-40D3-8EBA-5C68EE4A229E}"/>
              </a:ext>
            </a:extLst>
          </p:cNvPr>
          <p:cNvSpPr>
            <a:spLocks noGrp="1"/>
          </p:cNvSpPr>
          <p:nvPr/>
        </p:nvSpPr>
        <p:spPr>
          <a:xfrm>
            <a:off x="1314450" y="22669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0BD14-5949-414E-A14D-33B7B8172D40}"/>
              </a:ext>
            </a:extLst>
          </p:cNvPr>
          <p:cNvSpPr>
            <a:spLocks noGrp="1"/>
          </p:cNvSpPr>
          <p:nvPr/>
        </p:nvSpPr>
        <p:spPr>
          <a:xfrm>
            <a:off x="1314450" y="23622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La posizione viene da PackageTelemetry: serve la zona [5,10 m)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BE63D-953B-476F-80C8-38D3F172EA65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4BBFD-EFE7-4101-A69A-E3EDD150DC43}"/>
              </a:ext>
            </a:extLst>
          </p:cNvPr>
          <p:cNvSpPr>
            <a:spLocks noGrp="1"/>
          </p:cNvSpPr>
          <p:nvPr/>
        </p:nvSpPr>
        <p:spPr>
          <a:xfrm>
            <a:off x="1314450" y="32385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18 kg dal master replicato in KQL: 5,4 A è un calcolo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B5BF5-9F34-4F7A-B744-D251BAEDEC39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E7D56-60FA-4A67-9197-970E5E46B85D}"/>
              </a:ext>
            </a:extLst>
          </p:cNvPr>
          <p:cNvSpPr>
            <a:spLocks noGrp="1"/>
          </p:cNvSpPr>
          <p:nvPr/>
        </p:nvSpPr>
        <p:spPr>
          <a:xfrm>
            <a:off x="1314450" y="41148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Il carico su T01 viene da PackageTruckEvents: non misura ampere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58DAEF-9AE1-4942-BD61-083FAD1DBEAC}"/>
              </a:ext>
            </a:extLst>
          </p:cNvPr>
          <p:cNvSpPr>
            <a:spLocks noGrp="1"/>
          </p:cNvSpPr>
          <p:nvPr/>
        </p:nvSpPr>
        <p:spPr>
          <a:xfrm>
            <a:off x="1314450" y="48958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ACE4A5-64F5-46F4-8F33-4A497E760E12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RunId e Timestamp impediscono di mescolare corse e istanti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2766866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CFE63E-60BC-482A-A54B-CB98D6EA1A8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Perché si aggiungono Graph e Builder</a:t>
            </a:r>
            <a:endParaRPr sz="28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005E5-2550-4F3A-BD6D-3B3450C6DCB8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27511-562B-4EE8-B8FC-7DE9018F79DD}"/>
              </a:ext>
            </a:extLst>
          </p:cNvPr>
          <p:cNvSpPr>
            <a:spLocks noGrp="1"/>
          </p:cNvSpPr>
          <p:nvPr/>
        </p:nvSpPr>
        <p:spPr>
          <a:xfrm>
            <a:off x="1314450" y="14859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La risposta P004 si calcola già in KQL con master replicati</a:t>
            </a:r>
            <a:endParaRPr sz="17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C48BD-40B3-40D3-8EBA-5C68EE4A229E}"/>
              </a:ext>
            </a:extLst>
          </p:cNvPr>
          <p:cNvSpPr>
            <a:spLocks noGrp="1"/>
          </p:cNvSpPr>
          <p:nvPr/>
        </p:nvSpPr>
        <p:spPr>
          <a:xfrm>
            <a:off x="1314450" y="22669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0BD14-5949-414E-A14D-33B7B8172D40}"/>
              </a:ext>
            </a:extLst>
          </p:cNvPr>
          <p:cNvSpPr>
            <a:spLocks noGrp="1"/>
          </p:cNvSpPr>
          <p:nvPr/>
        </p:nvSpPr>
        <p:spPr>
          <a:xfrm>
            <a:off x="1314450" y="23622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Graph risponde ai percorsi possibili fra gli asset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BE63D-953B-476F-80C8-38D3F172EA65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4BBFD-EFE7-4101-A69A-E3EDD150DC43}"/>
              </a:ext>
            </a:extLst>
          </p:cNvPr>
          <p:cNvSpPr>
            <a:spLocks noGrp="1"/>
          </p:cNvSpPr>
          <p:nvPr/>
        </p:nvSpPr>
        <p:spPr>
          <a:xfrm>
            <a:off x="1314450" y="32385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Builder riunisce proprietà e serie nelle istanze operative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B5BF5-9F34-4F7A-B744-D251BAEDEC39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E7D56-60FA-4A67-9197-970E5E46B85D}"/>
              </a:ext>
            </a:extLst>
          </p:cNvPr>
          <p:cNvSpPr>
            <a:spLocks noGrp="1"/>
          </p:cNvSpPr>
          <p:nvPr/>
        </p:nvSpPr>
        <p:spPr>
          <a:xfrm>
            <a:off x="1314450" y="41148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Lakehouse conserva lifecycle e ultimo carico riusabili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58DAEF-9AE1-4942-BD61-083FAD1DBEAC}"/>
              </a:ext>
            </a:extLst>
          </p:cNvPr>
          <p:cNvSpPr>
            <a:spLocks noGrp="1"/>
          </p:cNvSpPr>
          <p:nvPr/>
        </p:nvSpPr>
        <p:spPr>
          <a:xfrm>
            <a:off x="1314450" y="48958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ACE4A5-64F5-46F4-8F33-4A497E760E12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Chiavi condivise permettono di confrontare le risposte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915855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BAFA7-745D-44D7-94CF-7C7A0F4444C1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Architettura end-to-end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9BDB1-3850-4155-B92F-0686D4DE0C82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FD2947-A49E-4068-AE5C-B0B453B227F6}"/>
              </a:ext>
            </a:extLst>
          </p:cNvPr>
          <p:cNvSpPr>
            <a:spLocks noGrp="1"/>
          </p:cNvSpPr>
          <p:nvPr/>
        </p:nvSpPr>
        <p:spPr>
          <a:xfrm>
            <a:off x="45720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7F985-1343-43AD-964A-3BA3363F7A75}"/>
              </a:ext>
            </a:extLst>
          </p:cNvPr>
          <p:cNvSpPr>
            <a:spLocks noGrp="1"/>
          </p:cNvSpPr>
          <p:nvPr/>
        </p:nvSpPr>
        <p:spPr>
          <a:xfrm>
            <a:off x="53340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YAML + CSX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45643C-776D-47D6-961B-3020BF2B88FD}"/>
              </a:ext>
            </a:extLst>
          </p:cNvPr>
          <p:cNvSpPr>
            <a:spLocks noGrp="1"/>
          </p:cNvSpPr>
          <p:nvPr/>
        </p:nvSpPr>
        <p:spPr>
          <a:xfrm>
            <a:off x="152400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ED064B-C178-4C80-9CC2-B9A311C7B020}"/>
              </a:ext>
            </a:extLst>
          </p:cNvPr>
          <p:cNvSpPr>
            <a:spLocks noGrp="1"/>
          </p:cNvSpPr>
          <p:nvPr/>
        </p:nvSpPr>
        <p:spPr>
          <a:xfrm>
            <a:off x="173355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D2FDC-529F-48EC-81E5-032A8AB7DE94}"/>
              </a:ext>
            </a:extLst>
          </p:cNvPr>
          <p:cNvSpPr>
            <a:spLocks noGrp="1"/>
          </p:cNvSpPr>
          <p:nvPr/>
        </p:nvSpPr>
        <p:spPr>
          <a:xfrm>
            <a:off x="180975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WEB + SIM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0C59A1-43A0-418E-AD8E-CBD01C12904C}"/>
              </a:ext>
            </a:extLst>
          </p:cNvPr>
          <p:cNvSpPr>
            <a:spLocks noGrp="1"/>
          </p:cNvSpPr>
          <p:nvPr/>
        </p:nvSpPr>
        <p:spPr>
          <a:xfrm>
            <a:off x="280035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029C86-90C6-4FD9-A57C-8060738FE005}"/>
              </a:ext>
            </a:extLst>
          </p:cNvPr>
          <p:cNvSpPr>
            <a:spLocks noGrp="1"/>
          </p:cNvSpPr>
          <p:nvPr/>
        </p:nvSpPr>
        <p:spPr>
          <a:xfrm>
            <a:off x="300990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EB548-01A6-4686-A8D3-EE9B54735BE4}"/>
              </a:ext>
            </a:extLst>
          </p:cNvPr>
          <p:cNvSpPr>
            <a:spLocks noGrp="1"/>
          </p:cNvSpPr>
          <p:nvPr/>
        </p:nvSpPr>
        <p:spPr>
          <a:xfrm>
            <a:off x="308610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 HUBS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C8F849-1117-4C4C-8195-B4E429BA2DA8}"/>
              </a:ext>
            </a:extLst>
          </p:cNvPr>
          <p:cNvSpPr>
            <a:spLocks noGrp="1"/>
          </p:cNvSpPr>
          <p:nvPr/>
        </p:nvSpPr>
        <p:spPr>
          <a:xfrm>
            <a:off x="407670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598E7-2037-4BFC-973F-930ACCD92996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E10A63-2A2E-4C97-896F-25AFAED5BDD0}"/>
              </a:ext>
            </a:extLst>
          </p:cNvPr>
          <p:cNvSpPr>
            <a:spLocks noGrp="1"/>
          </p:cNvSpPr>
          <p:nvPr/>
        </p:nvSpPr>
        <p:spPr>
          <a:xfrm>
            <a:off x="436245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EVENTSTREAM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5A848-E427-4865-9CDA-D45C4C54C7D3}"/>
              </a:ext>
            </a:extLst>
          </p:cNvPr>
          <p:cNvSpPr>
            <a:spLocks noGrp="1"/>
          </p:cNvSpPr>
          <p:nvPr/>
        </p:nvSpPr>
        <p:spPr>
          <a:xfrm>
            <a:off x="535305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70D995-73C6-4AB2-8DCA-661F2E6A60F8}"/>
              </a:ext>
            </a:extLst>
          </p:cNvPr>
          <p:cNvSpPr>
            <a:spLocks noGrp="1"/>
          </p:cNvSpPr>
          <p:nvPr/>
        </p:nvSpPr>
        <p:spPr>
          <a:xfrm>
            <a:off x="556260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85A970-F5BC-4E79-94B6-1EC6EA2412FD}"/>
              </a:ext>
            </a:extLst>
          </p:cNvPr>
          <p:cNvSpPr>
            <a:spLocks noGrp="1"/>
          </p:cNvSpPr>
          <p:nvPr/>
        </p:nvSpPr>
        <p:spPr>
          <a:xfrm>
            <a:off x="563880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C362F5-940A-4DD6-B2AE-822D59C2DF84}"/>
              </a:ext>
            </a:extLst>
          </p:cNvPr>
          <p:cNvSpPr>
            <a:spLocks noGrp="1"/>
          </p:cNvSpPr>
          <p:nvPr/>
        </p:nvSpPr>
        <p:spPr>
          <a:xfrm>
            <a:off x="662940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BAEC45-17F2-47C8-A944-53757418440F}"/>
              </a:ext>
            </a:extLst>
          </p:cNvPr>
          <p:cNvSpPr>
            <a:spLocks noGrp="1"/>
          </p:cNvSpPr>
          <p:nvPr/>
        </p:nvSpPr>
        <p:spPr>
          <a:xfrm>
            <a:off x="683895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6792CE-E478-4483-9F69-4569F8B820A3}"/>
              </a:ext>
            </a:extLst>
          </p:cNvPr>
          <p:cNvSpPr>
            <a:spLocks noGrp="1"/>
          </p:cNvSpPr>
          <p:nvPr/>
        </p:nvSpPr>
        <p:spPr>
          <a:xfrm>
            <a:off x="691515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ONELAKE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AF6745-01D6-402B-989F-E9274FE4C29D}"/>
              </a:ext>
            </a:extLst>
          </p:cNvPr>
          <p:cNvSpPr>
            <a:spLocks noGrp="1"/>
          </p:cNvSpPr>
          <p:nvPr/>
        </p:nvSpPr>
        <p:spPr>
          <a:xfrm>
            <a:off x="790575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B809F-C756-449C-8211-377BEB69EE3A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C8AECA-870A-4EA6-A67B-4CE219E501F8}"/>
              </a:ext>
            </a:extLst>
          </p:cNvPr>
          <p:cNvSpPr>
            <a:spLocks noGrp="1"/>
          </p:cNvSpPr>
          <p:nvPr/>
        </p:nvSpPr>
        <p:spPr>
          <a:xfrm>
            <a:off x="819150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LAKEHOUSE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721BA3-5583-4746-AB2D-5D02156ACBFC}"/>
              </a:ext>
            </a:extLst>
          </p:cNvPr>
          <p:cNvSpPr>
            <a:spLocks noGrp="1"/>
          </p:cNvSpPr>
          <p:nvPr/>
        </p:nvSpPr>
        <p:spPr>
          <a:xfrm>
            <a:off x="918210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CC09C2-2160-463D-AAEC-24F4A9D45464}"/>
              </a:ext>
            </a:extLst>
          </p:cNvPr>
          <p:cNvSpPr>
            <a:spLocks noGrp="1"/>
          </p:cNvSpPr>
          <p:nvPr/>
        </p:nvSpPr>
        <p:spPr>
          <a:xfrm>
            <a:off x="939165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EF01DB-5F63-4F01-A052-A2A5DB221921}"/>
              </a:ext>
            </a:extLst>
          </p:cNvPr>
          <p:cNvSpPr>
            <a:spLocks noGrp="1"/>
          </p:cNvSpPr>
          <p:nvPr/>
        </p:nvSpPr>
        <p:spPr>
          <a:xfrm>
            <a:off x="946785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A31316-CD08-4C31-A74E-1E777ABB41E6}"/>
              </a:ext>
            </a:extLst>
          </p:cNvPr>
          <p:cNvSpPr>
            <a:spLocks noGrp="1"/>
          </p:cNvSpPr>
          <p:nvPr/>
        </p:nvSpPr>
        <p:spPr>
          <a:xfrm>
            <a:off x="10458450" y="2733675"/>
            <a:ext cx="209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D80328-3BF4-4BDD-9A8D-7AB0EACAC120}"/>
              </a:ext>
            </a:extLst>
          </p:cNvPr>
          <p:cNvSpPr>
            <a:spLocks noGrp="1"/>
          </p:cNvSpPr>
          <p:nvPr/>
        </p:nvSpPr>
        <p:spPr>
          <a:xfrm>
            <a:off x="10668000" y="2362200"/>
            <a:ext cx="10668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FFBF1-CC8D-460C-89E4-4D60058E5000}"/>
              </a:ext>
            </a:extLst>
          </p:cNvPr>
          <p:cNvSpPr>
            <a:spLocks noGrp="1"/>
          </p:cNvSpPr>
          <p:nvPr/>
        </p:nvSpPr>
        <p:spPr>
          <a:xfrm>
            <a:off x="10744200" y="25812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GRAPH / IQ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D4C54A-1259-4FBC-894A-69A8B8AD09F1}"/>
              </a:ext>
            </a:extLst>
          </p:cNvPr>
          <p:cNvSpPr>
            <a:spLocks noGrp="1"/>
          </p:cNvSpPr>
          <p:nvPr/>
        </p:nvSpPr>
        <p:spPr>
          <a:xfrm>
            <a:off x="4305300" y="37147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725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25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KQL conserva la correlazione temporale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0ADC04-0E93-4A9A-A77B-43EA418FBE22}"/>
              </a:ext>
            </a:extLst>
          </p:cNvPr>
          <p:cNvSpPr>
            <a:spLocks noGrp="1"/>
          </p:cNvSpPr>
          <p:nvPr/>
        </p:nvSpPr>
        <p:spPr>
          <a:xfrm>
            <a:off x="6143625" y="3143250"/>
            <a:ext cx="19050" cy="533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222BE0-E4D3-44F4-B81A-885AACF07A54}"/>
              </a:ext>
            </a:extLst>
          </p:cNvPr>
          <p:cNvSpPr>
            <a:spLocks noGrp="1"/>
          </p:cNvSpPr>
          <p:nvPr/>
        </p:nvSpPr>
        <p:spPr>
          <a:xfrm>
            <a:off x="7886700" y="457200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725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25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Graph espone la topologia persistente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37B6C2-B27A-46A0-A8CC-80F49CDE09B0}"/>
              </a:ext>
            </a:extLst>
          </p:cNvPr>
          <p:cNvSpPr>
            <a:spLocks noGrp="1"/>
          </p:cNvSpPr>
          <p:nvPr/>
        </p:nvSpPr>
        <p:spPr>
          <a:xfrm>
            <a:off x="9525000" y="3143250"/>
            <a:ext cx="19050" cy="1381125"/>
          </a:xfrm>
          <a:prstGeom prst="rect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8391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9DB2F-89B1-40E1-93BC-E840D9E53FEA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Ingestione e tempo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3A10B1-C556-4B36-9A75-90E03A922906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4BCF8-0B3A-49A3-8699-6CB9C75A2CE9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 Hubs riceve gli eventi. Eventstream li instrada conservando RunId e Timestamp. Eventhouse mantiene la sequenza e KQL ricostruisce ciò che è accaduto.</a:t>
            </a:r>
          </a:p>
        </p:txBody>
      </p:sp>
    </p:spTree>
    <p:extLst>
      <p:ext uri="{BB962C8B-B14F-4D97-AF65-F5344CB8AC3E}">
        <p14:creationId xmlns:p14="http://schemas.microsoft.com/office/powerpoint/2010/main" val="52764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EF1014-F6A3-447F-B1C1-3B6E649D5793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Routing Eventstream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89A1A-86C3-46C4-9EE9-772CBECADC3B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C4571-086B-44BE-A2AE-B2871939BC5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Configuration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C293E-3B47-408E-9AC3-D90478AF8C83}"/>
              </a:ext>
            </a:extLst>
          </p:cNvPr>
          <p:cNvSpPr>
            <a:spLocks noGrp="1"/>
          </p:cNvSpPr>
          <p:nvPr/>
        </p:nvSpPr>
        <p:spPr>
          <a:xfrm>
            <a:off x="400050" y="19145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34D39-DDF3-47A4-B789-10F613964910}"/>
              </a:ext>
            </a:extLst>
          </p:cNvPr>
          <p:cNvSpPr>
            <a:spLocks noGrp="1"/>
          </p:cNvSpPr>
          <p:nvPr/>
        </p:nvSpPr>
        <p:spPr>
          <a:xfrm>
            <a:off x="400050" y="2085975"/>
            <a:ext cx="3556000" cy="4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Filtro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MessageType == 'Configuration'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Destinazione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ConfigurationMessages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Mapping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ConfigurationMessagesJsonMapping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80070A-265A-408F-8E9F-061A42150CF2}"/>
              </a:ext>
            </a:extLst>
          </p:cNvPr>
          <p:cNvSpPr>
            <a:spLocks noGrp="1"/>
          </p:cNvSpPr>
          <p:nvPr/>
        </p:nvSpPr>
        <p:spPr>
          <a:xfrm>
            <a:off x="4318000" y="14668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Telemetry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2B8944-DF3F-4092-83ED-2140199A9A2D}"/>
              </a:ext>
            </a:extLst>
          </p:cNvPr>
          <p:cNvSpPr>
            <a:spLocks noGrp="1"/>
          </p:cNvSpPr>
          <p:nvPr/>
        </p:nvSpPr>
        <p:spPr>
          <a:xfrm>
            <a:off x="4318000" y="19145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4AB9B9-F193-44DA-8FCD-7B5A82543C92}"/>
              </a:ext>
            </a:extLst>
          </p:cNvPr>
          <p:cNvSpPr>
            <a:spLocks noGrp="1"/>
          </p:cNvSpPr>
          <p:nvPr/>
        </p:nvSpPr>
        <p:spPr>
          <a:xfrm>
            <a:off x="4318000" y="2085975"/>
            <a:ext cx="3556000" cy="4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Filtro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MessageType == 'Telemetry'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Destinazione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Telemetry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Mapping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TelemetryJsonMapping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DF2B16-2B22-4EB7-894E-C37CFB9D8E11}"/>
              </a:ext>
            </a:extLst>
          </p:cNvPr>
          <p:cNvSpPr>
            <a:spLocks noGrp="1"/>
          </p:cNvSpPr>
          <p:nvPr/>
        </p:nvSpPr>
        <p:spPr>
          <a:xfrm>
            <a:off x="8235950" y="14668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BusinessEvent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E2A3F2-FE20-4300-A1B1-0788DD2D87D2}"/>
              </a:ext>
            </a:extLst>
          </p:cNvPr>
          <p:cNvSpPr>
            <a:spLocks noGrp="1"/>
          </p:cNvSpPr>
          <p:nvPr/>
        </p:nvSpPr>
        <p:spPr>
          <a:xfrm>
            <a:off x="8235950" y="19145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6E1AED-DD4D-489A-9B68-A2FC611BC25B}"/>
              </a:ext>
            </a:extLst>
          </p:cNvPr>
          <p:cNvSpPr>
            <a:spLocks noGrp="1"/>
          </p:cNvSpPr>
          <p:nvPr/>
        </p:nvSpPr>
        <p:spPr>
          <a:xfrm>
            <a:off x="8235950" y="2085975"/>
            <a:ext cx="3556000" cy="414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Filtro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MessageType == 'BusinessEvent'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Destinazione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BusinessEvents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50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Mapping</a:t>
            </a:r>
          </a:p>
          <a:p>
            <a:pPr>
              <a:buNone/>
              <a:def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5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BusinessEventsJsonMapping</a:t>
            </a:r>
          </a:p>
        </p:txBody>
      </p:sp>
    </p:spTree>
    <p:extLst>
      <p:ext uri="{BB962C8B-B14F-4D97-AF65-F5344CB8AC3E}">
        <p14:creationId xmlns:p14="http://schemas.microsoft.com/office/powerpoint/2010/main" val="755003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BDFA21-F37C-4F20-9724-68AE46C1A5A9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Eventhouse: raw e typed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39AA2-4672-4381-AB44-FA0654DF9ADF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65389-2435-452F-BE64-AC3453CEEB2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514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4A56A-F223-427F-9A0E-761EEC23A3DB}"/>
              </a:ext>
            </a:extLst>
          </p:cNvPr>
          <p:cNvSpPr>
            <a:spLocks noGrp="1"/>
          </p:cNvSpPr>
          <p:nvPr/>
        </p:nvSpPr>
        <p:spPr>
          <a:xfrm>
            <a:off x="400050" y="1914525"/>
            <a:ext cx="551497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426CC9-424B-4727-A61B-BD5F7DB199DB}"/>
              </a:ext>
            </a:extLst>
          </p:cNvPr>
          <p:cNvSpPr>
            <a:spLocks noGrp="1"/>
          </p:cNvSpPr>
          <p:nvPr/>
        </p:nvSpPr>
        <p:spPr>
          <a:xfrm>
            <a:off x="400050" y="2085975"/>
            <a:ext cx="551497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Telemetry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RunId · Timestamp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EntityId · Metric · Value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BusinessEvents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RunId · Timestamp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EventType · SubjectId · TargetId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ConfigurationMessages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contratto completo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E96C7-6395-42FC-A78A-7C943D1E12D4}"/>
              </a:ext>
            </a:extLst>
          </p:cNvPr>
          <p:cNvSpPr>
            <a:spLocks noGrp="1"/>
          </p:cNvSpPr>
          <p:nvPr/>
        </p:nvSpPr>
        <p:spPr>
          <a:xfrm>
            <a:off x="6276975" y="1466850"/>
            <a:ext cx="5514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TYPED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D800E-CFC5-49F4-8019-7346B9C3D531}"/>
              </a:ext>
            </a:extLst>
          </p:cNvPr>
          <p:cNvSpPr>
            <a:spLocks noGrp="1"/>
          </p:cNvSpPr>
          <p:nvPr/>
        </p:nvSpPr>
        <p:spPr>
          <a:xfrm>
            <a:off x="6276975" y="1914525"/>
            <a:ext cx="551497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5116F7-1882-4DB6-97DE-98A5692D386F}"/>
              </a:ext>
            </a:extLst>
          </p:cNvPr>
          <p:cNvSpPr>
            <a:spLocks noGrp="1"/>
          </p:cNvSpPr>
          <p:nvPr/>
        </p:nvSpPr>
        <p:spPr>
          <a:xfrm>
            <a:off x="6276975" y="2085975"/>
            <a:ext cx="5514975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MotorTelemetry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ConveyorTelemetry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PackageTelemetry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PackageConveyorEvents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PackageTruckEvents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Nomi stabili per OneLake e Ontology.</a:t>
            </a:r>
          </a:p>
        </p:txBody>
      </p:sp>
    </p:spTree>
    <p:extLst>
      <p:ext uri="{BB962C8B-B14F-4D97-AF65-F5344CB8AC3E}">
        <p14:creationId xmlns:p14="http://schemas.microsoft.com/office/powerpoint/2010/main" val="1386942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B9B3C6-24AC-48C7-9DF9-F1C488578DDF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OneLake e Lakehouse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A3FB0-6534-4BE1-B05F-380E22565024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E3ADF-51E7-41DE-BF80-A39A79357628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OneLake rende gli stessi dati accessibili ai workload Fabric. Lakehouse aggiunge master data, lifecycle e relazioni derivate senza duplicare la logica di dominio.</a:t>
            </a:r>
          </a:p>
        </p:txBody>
      </p:sp>
    </p:spTree>
    <p:extLst>
      <p:ext uri="{BB962C8B-B14F-4D97-AF65-F5344CB8AC3E}">
        <p14:creationId xmlns:p14="http://schemas.microsoft.com/office/powerpoint/2010/main" val="1694469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F8600-BAA3-43CA-A30D-D0E8BDA82731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Master data e topologia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90C927-367A-4D37-9A93-9E8417592BC5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18EB1-4A50-4F5B-9B20-D4D9A4BFA64E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5514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ENTITY TABLES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EA678-756D-4B75-BF10-5CBC7AD1E50D}"/>
              </a:ext>
            </a:extLst>
          </p:cNvPr>
          <p:cNvSpPr>
            <a:spLocks noGrp="1"/>
          </p:cNvSpPr>
          <p:nvPr/>
        </p:nvSpPr>
        <p:spPr>
          <a:xfrm>
            <a:off x="400050" y="2124075"/>
            <a:ext cx="551497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2DF741-E4E9-43E1-8F96-1F2AC567EA5A}"/>
              </a:ext>
            </a:extLst>
          </p:cNvPr>
          <p:cNvSpPr>
            <a:spLocks noGrp="1"/>
          </p:cNvSpPr>
          <p:nvPr/>
        </p:nvSpPr>
        <p:spPr>
          <a:xfrm>
            <a:off x="400050" y="2295525"/>
            <a:ext cx="5514975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Conveyors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Motors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Packages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Trucks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05 usa MERGE e può essere rieseguito.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BA20E-EB52-4DD3-96AF-99941119F61A}"/>
              </a:ext>
            </a:extLst>
          </p:cNvPr>
          <p:cNvSpPr>
            <a:spLocks noGrp="1"/>
          </p:cNvSpPr>
          <p:nvPr/>
        </p:nvSpPr>
        <p:spPr>
          <a:xfrm>
            <a:off x="6276975" y="1676400"/>
            <a:ext cx="5514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RELATIONSHIP TABLES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B10FA-D19A-4548-9DD9-1ABDD75EE05A}"/>
              </a:ext>
            </a:extLst>
          </p:cNvPr>
          <p:cNvSpPr>
            <a:spLocks noGrp="1"/>
          </p:cNvSpPr>
          <p:nvPr/>
        </p:nvSpPr>
        <p:spPr>
          <a:xfrm>
            <a:off x="6276975" y="2124075"/>
            <a:ext cx="551497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A054E3-7213-48E4-8F46-CB9A54284415}"/>
              </a:ext>
            </a:extLst>
          </p:cNvPr>
          <p:cNvSpPr>
            <a:spLocks noGrp="1"/>
          </p:cNvSpPr>
          <p:nvPr/>
        </p:nvSpPr>
        <p:spPr>
          <a:xfrm>
            <a:off x="6276975" y="2295525"/>
            <a:ext cx="5514975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MotorDrivesConveyor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MotorId + ConveyorId</a:t>
            </a:r>
          </a:p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PackageTravelsOnConveyor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PackageId + ConveyorId</a:t>
            </a:r>
          </a:p>
        </p:txBody>
      </p:sp>
    </p:spTree>
    <p:extLst>
      <p:ext uri="{BB962C8B-B14F-4D97-AF65-F5344CB8AC3E}">
        <p14:creationId xmlns:p14="http://schemas.microsoft.com/office/powerpoint/2010/main" val="1341297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15D5D0-C9D2-4855-ACF5-837E9CAA20C6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 e Graph: dare significato ai dati</a:t>
            </a:r>
          </a:p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0B15E9-84AD-4CF2-AB35-E4731C62E6FE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F1720-50A1-420B-95DE-5E50AEE50DCA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 collega il vocabolario alle sorgenti. Le relationship table diventano archi interrogabili con GQL. Il significato resta distinto dal percorso che il Graph rende navigabile.</a:t>
            </a:r>
          </a:p>
        </p:txBody>
      </p:sp>
    </p:spTree>
    <p:extLst>
      <p:ext uri="{BB962C8B-B14F-4D97-AF65-F5344CB8AC3E}">
        <p14:creationId xmlns:p14="http://schemas.microsoft.com/office/powerpoint/2010/main" val="1043330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3D583-87AF-4E51-9F16-F8BE48C64DD7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Ruolo dell'Ontology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F9603-55C4-412E-8F4D-FB806C1E953E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7F4102-E3D2-4E5B-B1BF-7D5EFC380602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DEFINISCE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550DD-5714-42B0-9E1B-269646FADFDB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D27B-4676-4718-BFEC-01FC58C070A9}"/>
              </a:ext>
            </a:extLst>
          </p:cNvPr>
          <p:cNvSpPr>
            <a:spLocks noGrp="1"/>
          </p:cNvSpPr>
          <p:nvPr/>
        </p:nvSpPr>
        <p:spPr>
          <a:xfrm>
            <a:off x="400050" y="212407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Entity type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Identity key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Proprietà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Relationship type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Vincoli e significato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414DFD-77E7-48B3-988B-25073CDCFA15}"/>
              </a:ext>
            </a:extLst>
          </p:cNvPr>
          <p:cNvSpPr>
            <a:spLocks noGrp="1"/>
          </p:cNvSpPr>
          <p:nvPr/>
        </p:nvSpPr>
        <p:spPr>
          <a:xfrm>
            <a:off x="4318000" y="15049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LEGA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DD63F-D8A5-4EBB-9079-6E4B3276FADC}"/>
              </a:ext>
            </a:extLst>
          </p:cNvPr>
          <p:cNvSpPr>
            <a:spLocks noGrp="1"/>
          </p:cNvSpPr>
          <p:nvPr/>
        </p:nvSpPr>
        <p:spPr>
          <a:xfrm>
            <a:off x="4318000" y="19526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E0352D-F4F7-46F7-9FB8-F7BF1C837EA2}"/>
              </a:ext>
            </a:extLst>
          </p:cNvPr>
          <p:cNvSpPr>
            <a:spLocks noGrp="1"/>
          </p:cNvSpPr>
          <p:nvPr/>
        </p:nvSpPr>
        <p:spPr>
          <a:xfrm>
            <a:off x="4318000" y="212407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Tabelle OneLake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Serie temporali Eventhouse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Colonne e unità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Provenienza dei dati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98B2E-1E2B-44BE-BE56-2360A6C585B2}"/>
              </a:ext>
            </a:extLst>
          </p:cNvPr>
          <p:cNvSpPr>
            <a:spLocks noGrp="1"/>
          </p:cNvSpPr>
          <p:nvPr/>
        </p:nvSpPr>
        <p:spPr>
          <a:xfrm>
            <a:off x="8235950" y="150495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PUBBLICA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D6585-F396-4482-8137-5FAB1AA8FF01}"/>
              </a:ext>
            </a:extLst>
          </p:cNvPr>
          <p:cNvSpPr>
            <a:spLocks noGrp="1"/>
          </p:cNvSpPr>
          <p:nvPr/>
        </p:nvSpPr>
        <p:spPr>
          <a:xfrm>
            <a:off x="8235950" y="195262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97668E-8C76-4EF4-9F38-C0DB7CE8DD84}"/>
              </a:ext>
            </a:extLst>
          </p:cNvPr>
          <p:cNvSpPr>
            <a:spLocks noGrp="1"/>
          </p:cNvSpPr>
          <p:nvPr/>
        </p:nvSpPr>
        <p:spPr>
          <a:xfrm>
            <a:off x="8235950" y="212407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Istanze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Graph gestito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Query su concetti</a:t>
            </a:r>
          </a:p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Contesto per agenti e Fabric IQ</a:t>
            </a:r>
          </a:p>
        </p:txBody>
      </p:sp>
    </p:spTree>
    <p:extLst>
      <p:ext uri="{BB962C8B-B14F-4D97-AF65-F5344CB8AC3E}">
        <p14:creationId xmlns:p14="http://schemas.microsoft.com/office/powerpoint/2010/main" val="423623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2FA58F-88D3-6C4D-F90D-EE3B98C9A45B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Perché creare una Ontology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ECD1586-589C-4971-8C84-09C82FD67D1F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0"/>
            <a:ext cx="1905000" cy="190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19CA83-D761-D8A6-B2B5-CF210599F639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Definisce una volta che cosa significa Motor o Package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3153389-0AA2-E9A8-B0BF-19C0B693B6C7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94EB9-9E8F-1987-9D6A-40EF83547A27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Dichiara le identity key indipendenti dalle tabelle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B5C213C-9798-AE9C-7136-2A2D650F1D81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9D346-92F0-9358-41B8-C847FB3ECE44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Assegna un nome coerente alle proprietà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E53B1F9-5F8E-A9E8-FBFC-C83F6E3790BF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41C12-B456-92E3-871F-55900047F9C7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Collega entità a sorgenti Lakehouse ed Eventhouse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2FC3D74-417E-1B9C-92D0-B13C45B028C3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982010-A65E-1820-CF62-E3A44878B766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Offre lo stesso vocabolario a persone e agenti</a:t>
            </a:r>
          </a:p>
        </p:txBody>
      </p:sp>
    </p:spTree>
    <p:extLst>
      <p:ext uri="{BB962C8B-B14F-4D97-AF65-F5344CB8AC3E}">
        <p14:creationId xmlns:p14="http://schemas.microsoft.com/office/powerpoint/2010/main" val="1356394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B181F-333A-63D1-F9F0-EC01DB4E1AD2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Tre verbi del dominio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AD48F2A-E3BA-772E-F88C-0D6ADD7715B2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0"/>
            <a:ext cx="1905000" cy="1909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7B7138-5D17-418E-E67F-7F6D6DBBE81F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M01 e M02 drives C01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41A3C27-AF1D-0C7A-D7F9-E7C6E2C083D1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38ACB-3EC4-7303-2540-BC4F1CE7D10D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P001–P004 travelsOn C01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96DF06E-A0F6-7939-A157-ECA5A83906C6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D0F906-3152-667E-51FD-67AA3885DBD9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P001–P004 loadedOn T01 per ogni run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DCDA7DD-BAF9-2482-E635-93AD361EF6D6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B40EB-0ED4-8E3A-4461-4AC65540152F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 verbi rendono esplicito il significato dei join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C9CC03A-A1E8-D4D2-CF90-4BC9E7862B29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9A3FBA-CF17-3635-69DB-243C4E837791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Package–Motor resta una relazione calcolata nel tempo</a:t>
            </a:r>
          </a:p>
        </p:txBody>
      </p:sp>
    </p:spTree>
    <p:extLst>
      <p:ext uri="{BB962C8B-B14F-4D97-AF65-F5344CB8AC3E}">
        <p14:creationId xmlns:p14="http://schemas.microsoft.com/office/powerpoint/2010/main" val="3993131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821A70-6B0A-5F42-621E-2521DD27F9E7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Perché usare il Graph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229A78A-0305-FE22-A690-1CA06A79F57D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047A22-722E-FCF8-87B0-AC49EF30FA95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Permette di partire da un asset e attraversare le relazioni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8EF1D4C-8D73-5E41-1E6A-6D6F315DA11E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2C2D0-6C68-EAD7-1997-0D9002AC88B9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Risponde bene alle domande sui percorsi possibili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A5DC345-9720-4CC5-863A-E492D09BDB28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A19560-9FF1-BF70-7816-E05176632802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Evita di riscrivere join tabellari per ogni esplorazione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305198C-18E4-8078-2DB7-5D6FDC0EC527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2737C4-D21F-BA3E-C2EA-BAAB97F8CC01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Mantiene entità e relazioni come oggetti interrogabili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3625D46-0F5A-6596-ADC5-326DB081A30D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4156B0-4693-E0F5-40B1-A5F3D494E094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Fornisce contesto a esperienze e agenti</a:t>
            </a:r>
          </a:p>
        </p:txBody>
      </p:sp>
    </p:spTree>
    <p:extLst>
      <p:ext uri="{BB962C8B-B14F-4D97-AF65-F5344CB8AC3E}">
        <p14:creationId xmlns:p14="http://schemas.microsoft.com/office/powerpoint/2010/main" val="538898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6BCB11-2FA5-A298-7960-0C4CD1302830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La topologia non contiene il tempo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534EAF8-6EDE-8924-2183-FB3E42A72483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56828-B06A-F9D0-FAF9-1BD43595575B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M01 e M02 azionano entrambi C01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954147E-1E7D-F962-DDE7-3B1878410DE8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71CFD-48A0-DD06-B5E5-EBA9246B5276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Ogni package percorre C01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FC2ECCF-F1C1-3AEA-0FC0-7A827D082431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93356-A777-70EB-4E5C-8EDB0591E3FC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Graph collega quindi ogni package a due motori possibili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47749B6-E60D-5A00-964B-CE81A25B481C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08886-A3F2-19F1-DCAC-308BAAA1B27A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La posizione determina il motore effettivo in un istante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AEF588A-B51C-8607-B020-9556376F4F91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82C12B-A574-57C8-5231-F67B5FEA9376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Questa risposta appartiene a Eventhouse e KQL</a:t>
            </a:r>
          </a:p>
        </p:txBody>
      </p:sp>
      <p:pic>
        <p:nvPicPr>
          <p:cNvPr id="36" name="Picture 23"/>
          <p:cNvPicPr>
            <a:picLocks noChangeAspect="1"/>
          </p:cNvPicPr>
          <p:nvPr/>
        </p:nvPicPr>
        <p:blipFill>
          <a:blip r:embed="rId3"/>
          <a:srcRect l="11771"/>
          <a:stretch>
            <a:fillRect/>
          </a:stretch>
        </p:blipFill>
        <p:spPr>
          <a:xfrm rot="-120000">
            <a:off x="757572" y="2155087"/>
            <a:ext cx="1680759" cy="190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46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FA1ED-9FD6-3934-7EEF-BEA2CB230B04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Che cosa abbiamo ottenuto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B7E05BA-E75C-29D8-4013-2C3BBA31B338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0"/>
            <a:ext cx="1905000" cy="190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A904AF-E335-9ABD-23E3-36ADA6ACFB40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Ontology definisce il vocabolario condiviso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9181D37-C7B8-00EF-A208-DB97DC107892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43014-DD46-7FCE-99E5-69AE3210E626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Graph rende navigabile la topologia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F29ECE6-9A4C-FFF1-3B28-3785104BCE46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30F073-6D03-9315-6481-E6B47247E12C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Le relazioni storiche possono ripetersi per RunId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A66EE1F-C472-FB5B-88FA-E3F3750F0B4F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325829-74A5-EF93-F90F-37DBE9881ED9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Nessuno dei due sostituisce le query temporali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B843E8A-ED68-F431-AB72-5ACA5CAF9CE6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69740D-4A51-142D-FFFA-39595E291280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modello semantico chiarisce quale domanda stiamo facendo</a:t>
            </a:r>
          </a:p>
        </p:txBody>
      </p:sp>
    </p:spTree>
    <p:extLst>
      <p:ext uri="{BB962C8B-B14F-4D97-AF65-F5344CB8AC3E}">
        <p14:creationId xmlns:p14="http://schemas.microsoft.com/office/powerpoint/2010/main" val="3434802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D64102-D374-7E41-C0F9-762E58748B2F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7747000" cy="73866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ruolo del Digital Twin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360DBD6-1A3A-4026-B352-7C4DA9819777}"/>
              </a:ext>
            </a:extLst>
          </p:cNvPr>
          <p:cNvSpPr>
            <a:spLocks noGrp="1"/>
          </p:cNvSpPr>
          <p:nvPr/>
        </p:nvSpPr>
        <p:spPr>
          <a:xfrm>
            <a:off x="609600" y="3175000"/>
            <a:ext cx="76454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67FA2-08A1-42A9-12B4-A91A142A31E4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7239000" cy="14173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Digital Twin applica il modello alle istanze reali. Il Builder riunisce identità, proprietà, serie temporali e relazioni per osservare lo stato operativo.</a:t>
            </a:r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8572500" y="1587501"/>
            <a:ext cx="2794000" cy="278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30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F0B073-7305-5875-AEA0-38E6D60B5239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Perché usare Digital Twin Builder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C47B31D-E228-480A-A12A-65784E25444B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1"/>
            <a:ext cx="1905000" cy="190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D73BBE-4A08-1805-B452-819C185339D1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Mostra le istanze operative invece delle sole tabelle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265170E-8A98-4A3C-A7DF-9D5CACBEA8FE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A003D7-FD49-C778-DC0F-18B844A0768B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Riunisce proprietà statiche e serie temporali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45D39E2-DB8A-484E-8894-21D275B061CA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EE3BF-7318-28E7-5B79-165DE4321CF4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Contestualizza relazioni tramite join di proprietà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E8F70FA-3380-44C4-B08F-8B103C437C46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F15A27-1B8D-F42E-508C-1DBB07AE535B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Permette di esplorare un asset e i suoi vicini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2CFF2EF-BFEB-42A0-BCFB-A7F0F823E8B4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AB4351-7ABB-4DE1-D40B-DBD4BF3B50CE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Espone viste dom nel proprio SQL endpoint</a:t>
            </a:r>
          </a:p>
        </p:txBody>
      </p:sp>
    </p:spTree>
    <p:extLst>
      <p:ext uri="{BB962C8B-B14F-4D97-AF65-F5344CB8AC3E}">
        <p14:creationId xmlns:p14="http://schemas.microsoft.com/office/powerpoint/2010/main" val="1472200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0941D-D104-25DC-BBF9-9AFCA235E5F0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Poi le serie temporali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0B4D71A-D5DF-464B-B0DD-B29CBB9D71DC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DAB938-6125-27A3-0B4B-8CF5AADD0F01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MotorTelemetry collega MotorId a CurrentAmps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B29EFE1-1ECC-4471-8269-02CD58187294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D3F7B8-1A3F-C064-311D-30F63048CCE3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ConveyorTelemetry collega ConveyorId alla velocità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10F434A-B5E6-45F3-A4FD-BF47821762E8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8B957-27D8-545C-C921-9599AD6530B9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PackageTelemetry collega PackageId alla posizione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88482DB-22B8-4543-B776-31175FB961D4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D69DE-38D6-925D-8C57-E1124B23EF74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Timestamp è lʼasse temporale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06DD9D5-CD04-4648-93E5-953503F88286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05A7A9-BECB-BFF1-C4E3-56B973BDE0BD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RunId mantiene la separazione logica delle corse</a:t>
            </a:r>
          </a:p>
        </p:txBody>
      </p:sp>
      <p:pic>
        <p:nvPicPr>
          <p:cNvPr id="36" name="Picture 23"/>
          <p:cNvPicPr>
            <a:picLocks noChangeAspect="1"/>
          </p:cNvPicPr>
          <p:nvPr/>
        </p:nvPicPr>
        <p:blipFill>
          <a:blip r:embed="rId3"/>
          <a:srcRect l="11771"/>
          <a:stretch>
            <a:fillRect/>
          </a:stretch>
        </p:blipFill>
        <p:spPr>
          <a:xfrm rot="-120000">
            <a:off x="757572" y="2155087"/>
            <a:ext cx="1680759" cy="190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98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C1748C-73F5-2794-4749-0FAED58B627A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Le relazioni nel Builder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549D149-C543-4DE0-BF9E-EF096FFE56E5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454C0E-3C0F-7A04-CC8F-B487C37BEA3F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Motor.ConveyorId si unisce a Conveyor.ConveyorId_static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F526F00-67A2-46ED-B079-1288F0503965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B5E81-858E-BC1A-BC82-691048DFA1AF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Package.ConveyorId si unisce a Conveyor.ConveyorId_static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3A500C8-B7A9-4016-B04D-451847E8C543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D8C7E-2E22-3A76-1CC3-9D9CBA521881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Package.TruckId si unisce a Truck.TruckId_static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4A1F21-A8DD-4045-94FC-FCB0F3706829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BA22B-AF65-732E-75D9-71EEB88ACBCE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 flow eseguono mapping e contextualization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B27C138-F46E-442F-B81E-15F120CE1113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A87C7-2083-63AD-80F7-8374339CCC50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dom.relationships espone il risultato via SQL</a:t>
            </a:r>
          </a:p>
        </p:txBody>
      </p:sp>
      <p:pic>
        <p:nvPicPr>
          <p:cNvPr id="3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" y="2571263"/>
            <a:ext cx="2594294" cy="12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37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E773D-FB5B-EE2C-C6DE-DFDFB9E6B0C9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Le domande operative del Twin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A04A78D-2155-497E-B203-499A4B45358F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1"/>
            <a:ext cx="1905000" cy="190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EA8D1-5502-C4E3-7695-1C7CE4AACD10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proprietà descrivono P004?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867D3C3-9653-41FE-8787-3FAE84D23D5C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340CE-03CE-FDA7-8F1E-806A1888DCB8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 è la sua ultima posizione disponibile?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60BC6AB-4995-4AE8-A7F7-03E7C607BCC0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DC81E-CEAF-FE45-779C-707018C1E3B0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 quale conveyor e truck risulta collegato?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47462F9-2D5E-4B1C-87E2-1B851B64E6AD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F7966-C8B0-91E2-08C1-3B99534B1936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Quale RunId ha prodotto lʼultimo caricamento?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D5FDA2D-03A7-4931-9E6D-7EEFACEA8B17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4DEA4C-7D3A-8261-815E-C2C07B016B6A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Quali serie posso confrontare nellʼintervallo scelto?</a:t>
            </a:r>
          </a:p>
        </p:txBody>
      </p:sp>
    </p:spTree>
    <p:extLst>
      <p:ext uri="{BB962C8B-B14F-4D97-AF65-F5344CB8AC3E}">
        <p14:creationId xmlns:p14="http://schemas.microsoft.com/office/powerpoint/2010/main" val="382976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5248A4-D03B-279E-190E-F847DFBB3DD5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Quattro livelli, quattro domande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9F611B8-75D2-42DF-B15C-2CDF17BD93E8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432D7-FF9B-6BC6-47C4-DC749125D582}"/>
              </a:ext>
            </a:extLst>
          </p:cNvPr>
          <p:cNvSpPr>
            <a:spLocks noGrp="1"/>
          </p:cNvSpPr>
          <p:nvPr/>
        </p:nvSpPr>
        <p:spPr>
          <a:xfrm>
            <a:off x="508000" y="1714500"/>
            <a:ext cx="2667000" cy="315471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EVENTHOUSE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BDFC55C-E7D1-484B-AE59-A9E5549B5CD6}"/>
              </a:ext>
            </a:extLst>
          </p:cNvPr>
          <p:cNvSpPr>
            <a:spLocks noGrp="1"/>
          </p:cNvSpPr>
          <p:nvPr/>
        </p:nvSpPr>
        <p:spPr>
          <a:xfrm>
            <a:off x="508000" y="2209800"/>
            <a:ext cx="2667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34E95-537F-EAFB-4DC9-CB7D4CA15432}"/>
              </a:ext>
            </a:extLst>
          </p:cNvPr>
          <p:cNvSpPr>
            <a:spLocks noGrp="1"/>
          </p:cNvSpPr>
          <p:nvPr/>
        </p:nvSpPr>
        <p:spPr>
          <a:xfrm>
            <a:off x="508000" y="2413000"/>
            <a:ext cx="2667000" cy="1762021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Che cosa è accaduto?
RunId, Timestamp, misure ed eventi.
KQL per correlazioni temporali.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4EB4B-5BDC-38CD-94F0-C864838B0FE2}"/>
              </a:ext>
            </a:extLst>
          </p:cNvPr>
          <p:cNvSpPr>
            <a:spLocks noGrp="1"/>
          </p:cNvSpPr>
          <p:nvPr/>
        </p:nvSpPr>
        <p:spPr>
          <a:xfrm>
            <a:off x="3365500" y="1714500"/>
            <a:ext cx="2667000" cy="315471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ONTOLOGY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85B6141-4BDE-4088-9FE8-7F4877273F4F}"/>
              </a:ext>
            </a:extLst>
          </p:cNvPr>
          <p:cNvSpPr>
            <a:spLocks noGrp="1"/>
          </p:cNvSpPr>
          <p:nvPr/>
        </p:nvSpPr>
        <p:spPr>
          <a:xfrm>
            <a:off x="3365500" y="2209800"/>
            <a:ext cx="2667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164B0-9AC3-6D9E-0128-BE8E68417DFD}"/>
              </a:ext>
            </a:extLst>
          </p:cNvPr>
          <p:cNvSpPr>
            <a:spLocks noGrp="1"/>
          </p:cNvSpPr>
          <p:nvPr/>
        </p:nvSpPr>
        <p:spPr>
          <a:xfrm>
            <a:off x="3365500" y="2413000"/>
            <a:ext cx="2667000" cy="104644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Che cosa significa?
Entità, proprietà, chiavi e verbi condivisi.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0329E4-5A4A-55FF-CF9A-2BE0D6EE57F3}"/>
              </a:ext>
            </a:extLst>
          </p:cNvPr>
          <p:cNvSpPr>
            <a:spLocks noGrp="1"/>
          </p:cNvSpPr>
          <p:nvPr/>
        </p:nvSpPr>
        <p:spPr>
          <a:xfrm>
            <a:off x="6223000" y="1714500"/>
            <a:ext cx="2667000" cy="315471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GRAPH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A674877-5AAD-4187-B4F6-FF14E84651A7}"/>
              </a:ext>
            </a:extLst>
          </p:cNvPr>
          <p:cNvSpPr>
            <a:spLocks noGrp="1"/>
          </p:cNvSpPr>
          <p:nvPr/>
        </p:nvSpPr>
        <p:spPr>
          <a:xfrm>
            <a:off x="6223000" y="2209800"/>
            <a:ext cx="2667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5F739-BBE2-8199-AC9E-2542F258621C}"/>
              </a:ext>
            </a:extLst>
          </p:cNvPr>
          <p:cNvSpPr>
            <a:spLocks noGrp="1"/>
          </p:cNvSpPr>
          <p:nvPr/>
        </p:nvSpPr>
        <p:spPr>
          <a:xfrm>
            <a:off x="6223000" y="2413000"/>
            <a:ext cx="2667000" cy="104644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Come è collegato?
Cammini, dipendenze e topologia interrogabile.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7261B3-D20E-2951-1B4E-5FE1C54E7E63}"/>
              </a:ext>
            </a:extLst>
          </p:cNvPr>
          <p:cNvSpPr>
            <a:spLocks noGrp="1"/>
          </p:cNvSpPr>
          <p:nvPr/>
        </p:nvSpPr>
        <p:spPr>
          <a:xfrm>
            <a:off x="9080500" y="1714500"/>
            <a:ext cx="2667000" cy="315471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DIGITAL TWIN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58BDF8F-9C7B-4A16-AC9A-1EB604BCFB08}"/>
              </a:ext>
            </a:extLst>
          </p:cNvPr>
          <p:cNvSpPr>
            <a:spLocks noGrp="1"/>
          </p:cNvSpPr>
          <p:nvPr/>
        </p:nvSpPr>
        <p:spPr>
          <a:xfrm>
            <a:off x="9080500" y="2209800"/>
            <a:ext cx="2667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D0892-40C1-0CB0-4575-F141BC471F61}"/>
              </a:ext>
            </a:extLst>
          </p:cNvPr>
          <p:cNvSpPr>
            <a:spLocks noGrp="1"/>
          </p:cNvSpPr>
          <p:nvPr/>
        </p:nvSpPr>
        <p:spPr>
          <a:xfrm>
            <a:off x="9080500" y="2413000"/>
            <a:ext cx="2667000" cy="152349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5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Qual è lo stato operativo?
Istanze, proprietà, serie e relazioni contestualizzate.</a:t>
            </a:r>
          </a:p>
        </p:txBody>
      </p:sp>
    </p:spTree>
    <p:extLst>
      <p:ext uri="{BB962C8B-B14F-4D97-AF65-F5344CB8AC3E}">
        <p14:creationId xmlns:p14="http://schemas.microsoft.com/office/powerpoint/2010/main" val="2649456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F2E52-7645-AD4C-8450-C04E81B9E5ED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7747000" cy="135636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42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Applicazioni e AI sul modello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EA3833-1164-4334-9146-54E07F4D9AA1}"/>
              </a:ext>
            </a:extLst>
          </p:cNvPr>
          <p:cNvSpPr>
            <a:spLocks noGrp="1"/>
          </p:cNvSpPr>
          <p:nvPr/>
        </p:nvSpPr>
        <p:spPr>
          <a:xfrm>
            <a:off x="609600" y="3175000"/>
            <a:ext cx="76454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3C26D-A9E2-D78B-0C9C-7E46F64E495C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7239000" cy="14173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2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API, portale Blazor e chat condividono un catalogo di domande verificate. L’AI interpreta l’intento e sceglie uno strumento, mentre query e modello producono le evidenze.</a:t>
            </a:r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008185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2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61B40-BEBD-4905-8B17-DCD73F1E8BAA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Domande consumabili e contratti</a:t>
            </a:r>
            <a:endParaRPr sz="28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6A5179-0E73-4CC1-B3D5-09530BCA3B66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460601-14E7-46C6-96BE-64140E5A3689}"/>
              </a:ext>
            </a:extLst>
          </p:cNvPr>
          <p:cNvSpPr>
            <a:spLocks noGrp="1"/>
          </p:cNvSpPr>
          <p:nvPr/>
        </p:nvSpPr>
        <p:spPr>
          <a:xfrm>
            <a:off x="1200150" y="142875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API C# e Run Explorer disponibili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799BAE-95FF-4AE4-B6D7-792B1C02ED63}"/>
              </a:ext>
            </a:extLst>
          </p:cNvPr>
          <p:cNvSpPr>
            <a:spLocks noGrp="1"/>
          </p:cNvSpPr>
          <p:nvPr/>
        </p:nvSpPr>
        <p:spPr>
          <a:xfrm>
            <a:off x="1200150" y="220980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3F60FC-FC3F-4FF6-9A22-1D1398234657}"/>
              </a:ext>
            </a:extLst>
          </p:cNvPr>
          <p:cNvSpPr>
            <a:spLocks noGrp="1"/>
          </p:cNvSpPr>
          <p:nvPr/>
        </p:nvSpPr>
        <p:spPr>
          <a:xfrm>
            <a:off x="1200150" y="230505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Blazor mostra run, risposta ed evidence trail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05FD4E-FECF-4BCE-AB66-96915B8FD7C7}"/>
              </a:ext>
            </a:extLst>
          </p:cNvPr>
          <p:cNvSpPr>
            <a:spLocks noGrp="1"/>
          </p:cNvSpPr>
          <p:nvPr/>
        </p:nvSpPr>
        <p:spPr>
          <a:xfrm>
            <a:off x="1200150" y="308610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D372CC-934F-47C5-B42B-6122D54A7A9C}"/>
              </a:ext>
            </a:extLst>
          </p:cNvPr>
          <p:cNvSpPr>
            <a:spLocks noGrp="1"/>
          </p:cNvSpPr>
          <p:nvPr/>
        </p:nvSpPr>
        <p:spPr>
          <a:xfrm>
            <a:off x="1200150" y="318135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Ralf richiama executor controllati e non KQL libero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36EA88-A672-4663-A3DC-1EBF6FB68E4E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2449E0-26CE-4065-8510-E04DD74E9D0B}"/>
              </a:ext>
            </a:extLst>
          </p:cNvPr>
          <p:cNvSpPr>
            <a:spLocks noGrp="1"/>
          </p:cNvSpPr>
          <p:nvPr/>
        </p:nvSpPr>
        <p:spPr>
          <a:xfrm>
            <a:off x="1200150" y="405765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Conservare fonte, RunId, timestamp e unità nella risposta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5040114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DBA7B0-0173-43DC-8071-E49CA71CD8C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Consumo via SQL, GQL e agenti</a:t>
            </a:r>
            <a:endParaRPr sz="28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658D93-EBA2-4416-8019-2D376D133CE6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08793-9CDC-420D-9E47-E624B55A6B30}"/>
              </a:ext>
            </a:extLst>
          </p:cNvPr>
          <p:cNvSpPr>
            <a:spLocks noGrp="1"/>
          </p:cNvSpPr>
          <p:nvPr/>
        </p:nvSpPr>
        <p:spPr>
          <a:xfrm>
            <a:off x="1314450" y="14097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Twin: viste dom via SQL/TDS e Power BI</a:t>
            </a:r>
            <a:endParaRPr sz="17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056237-EF15-4450-802C-E294D9015718}"/>
              </a:ext>
            </a:extLst>
          </p:cNvPr>
          <p:cNvSpPr>
            <a:spLocks noGrp="1"/>
          </p:cNvSpPr>
          <p:nvPr/>
        </p:nvSpPr>
        <p:spPr>
          <a:xfrm>
            <a:off x="1314450" y="21907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67500-B163-4ED8-A004-299582D3793F}"/>
              </a:ext>
            </a:extLst>
          </p:cNvPr>
          <p:cNvSpPr>
            <a:spLocks noGrp="1"/>
          </p:cNvSpPr>
          <p:nvPr/>
        </p:nvSpPr>
        <p:spPr>
          <a:xfrm>
            <a:off x="1314450" y="22860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Graph: GQL Query API REST con risultati JSON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BD5E69-CC60-4169-8A72-4922964520FD}"/>
              </a:ext>
            </a:extLst>
          </p:cNvPr>
          <p:cNvSpPr>
            <a:spLocks noGrp="1"/>
          </p:cNvSpPr>
          <p:nvPr/>
        </p:nvSpPr>
        <p:spPr>
          <a:xfrm>
            <a:off x="1314450" y="30670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3746B-7280-4689-925F-DD2F4FA82A54}"/>
              </a:ext>
            </a:extLst>
          </p:cNvPr>
          <p:cNvSpPr>
            <a:spLocks noGrp="1"/>
          </p:cNvSpPr>
          <p:nvPr/>
        </p:nvSpPr>
        <p:spPr>
          <a:xfrm>
            <a:off x="1314450" y="31623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Ontology: Fabric Data Agent o MCP per client custom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7E66F6-7445-4D1F-BE3F-3E5F15519BE3}"/>
              </a:ext>
            </a:extLst>
          </p:cNvPr>
          <p:cNvSpPr>
            <a:spLocks noGrp="1"/>
          </p:cNvSpPr>
          <p:nvPr/>
        </p:nvSpPr>
        <p:spPr>
          <a:xfrm>
            <a:off x="1314450" y="39433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2EC87-39E6-4CB8-A2BE-BD8166CEE45D}"/>
              </a:ext>
            </a:extLst>
          </p:cNvPr>
          <p:cNvSpPr>
            <a:spLocks noGrp="1"/>
          </p:cNvSpPr>
          <p:nvPr/>
        </p:nvSpPr>
        <p:spPr>
          <a:xfrm>
            <a:off x="1314450" y="40386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Eventhouse: KQL per misure e calcoli per RunId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D69BF2-39F4-4549-89E4-8000F4DFDDC4}"/>
              </a:ext>
            </a:extLst>
          </p:cNvPr>
          <p:cNvSpPr>
            <a:spLocks noGrp="1"/>
          </p:cNvSpPr>
          <p:nvPr/>
        </p:nvSpPr>
        <p:spPr>
          <a:xfrm>
            <a:off x="1314450" y="4819650"/>
            <a:ext cx="1015365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97ADDF-F1DE-4606-9EC4-3EA474B47E12}"/>
              </a:ext>
            </a:extLst>
          </p:cNvPr>
          <p:cNvSpPr>
            <a:spLocks noGrp="1"/>
          </p:cNvSpPr>
          <p:nvPr/>
        </p:nvSpPr>
        <p:spPr>
          <a:xfrm>
            <a:off x="1314450" y="4914900"/>
            <a:ext cx="10153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8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7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REST DigitalTwinBuilder: gestione item, non query del twin</a:t>
            </a:r>
            <a:endParaRPr sz="17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2662971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11000-8A17-D061-BCAB-8B2F5C366027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Tre esperienze possibili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936861F-3AD4-4BF8-AE2E-A6EDF0229E93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79FCE-24B5-8799-94DE-9DD16D2439AF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API C# per risposte stabili e parametrizzate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C83FD27-A72B-4B83-A44A-B6BF7DC5953A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F6290-FA5F-01DF-1E55-BFAB32C63263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Portale Blazor per asset, run, grafi e misure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BE176D6-5E4E-4633-860F-EC6EADAF8D32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41460F-CE76-9CA1-B820-45F39DABD855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Chat per trasformare linguaggio naturale in strumenti controllati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CEB5F9E-1B5C-4E96-84D5-2A55FA32F80D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0878C1-D088-C519-D6F4-59DB1E0E6709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Power BI per analisi e distribuzione aziendale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AE65E85-3482-4365-9DBF-C56532FEEB58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0EE064-0813-74DE-92E3-39F9B7B66604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SQL, GQL e KQL restano i motori specializzati</a:t>
            </a:r>
          </a:p>
        </p:txBody>
      </p:sp>
      <p:pic>
        <p:nvPicPr>
          <p:cNvPr id="3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579753"/>
            <a:ext cx="1844968" cy="18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75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93C2F-E78F-E315-F118-CF66B0492739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Un contratto applicativo piccolo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D3FC65B-F905-4281-BB5B-0CB15249D0C0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524E7-B394-372A-73A5-1C9C499D3656}"/>
              </a:ext>
            </a:extLst>
          </p:cNvPr>
          <p:cNvSpPr>
            <a:spLocks noGrp="1"/>
          </p:cNvSpPr>
          <p:nvPr/>
        </p:nvSpPr>
        <p:spPr>
          <a:xfrm>
            <a:off x="3492500" y="1651000"/>
            <a:ext cx="8001000" cy="3619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EEB868-F3A8-7C7C-27F0-2BBF85DA56EB}"/>
              </a:ext>
            </a:extLst>
          </p:cNvPr>
          <p:cNvSpPr>
            <a:spLocks noGrp="1"/>
          </p:cNvSpPr>
          <p:nvPr/>
        </p:nvSpPr>
        <p:spPr>
          <a:xfrm>
            <a:off x="3708400" y="1866900"/>
            <a:ext cx="7569200" cy="2169825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5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GET /api/runs/{runId}/impact?truckId=T01
GET /api/assets/package/P004
GET /api/assets/package/P004/relationships
record Answer(
  string RunId,
  string Source,
  DateTimeOffset ObservedAt,
  object Data);</a:t>
            </a:r>
          </a:p>
        </p:txBody>
      </p:sp>
      <p:pic>
        <p:nvPicPr>
          <p:cNvPr id="1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16" y="2011791"/>
            <a:ext cx="1844968" cy="18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5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437058-0238-C1DE-B081-66F71A065564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Il portale per imparare esplorando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37E54D2-B117-4FD0-886E-A8282044894C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1"/>
            <a:ext cx="1905000" cy="190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0ADB7A-73B4-938B-A83F-372F794E5942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Selezione della corsa e controlli diagnostici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CBF840B-F627-483E-9B2E-961FCF96FEF3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37433-209E-48EF-95DC-10E1C5C09354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Inspector per Conveyor, Motor, Package e Truck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FF173CF-BAB8-400C-A4C9-68F64C3FED83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3B5A7-0EC1-38E5-D2F7-A7D0B0B41AC0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Grafico delle serie con RunId visibile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D3AA364-3E35-4140-B0D1-69AA5E47F240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DBA572-00C7-C565-64CC-B364843425AA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Relazioni topologiche separate dagli eventi storici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63C2F19-2387-4E18-AF51-EF7260722AE0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C579EB-F900-FDA7-D522-3FA054B80CED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Pannello che spiega come nasce ogni risposta</a:t>
            </a:r>
          </a:p>
        </p:txBody>
      </p:sp>
    </p:spTree>
    <p:extLst>
      <p:ext uri="{BB962C8B-B14F-4D97-AF65-F5344CB8AC3E}">
        <p14:creationId xmlns:p14="http://schemas.microsoft.com/office/powerpoint/2010/main" val="2658625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463C89-1708-0D20-E9E7-1DBAA09DF156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0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Conclusioni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5DD59-F53D-C706-AAD7-435AA5372B81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11252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ABC4C-8FCB-B8C4-A8AE-9D1DE777239A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10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Capiamo quindi cosa abbiamo fatto</a:t>
            </a:r>
          </a:p>
        </p:txBody>
      </p:sp>
    </p:spTree>
    <p:extLst>
      <p:ext uri="{BB962C8B-B14F-4D97-AF65-F5344CB8AC3E}">
        <p14:creationId xmlns:p14="http://schemas.microsoft.com/office/powerpoint/2010/main" val="31536521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6B3A6-080B-D18C-6E73-2793E32283DC}"/>
              </a:ext>
            </a:extLst>
          </p:cNvPr>
          <p:cNvSpPr>
            <a:spLocks noGrp="1"/>
          </p:cNvSpPr>
          <p:nvPr/>
        </p:nvSpPr>
        <p:spPr>
          <a:xfrm>
            <a:off x="508000" y="533400"/>
            <a:ext cx="11176000" cy="523220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La catena della risposta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850AF41-410B-466A-A058-17FB76EEA956}"/>
              </a:ext>
            </a:extLst>
          </p:cNvPr>
          <p:cNvSpPr>
            <a:spLocks noGrp="1"/>
          </p:cNvSpPr>
          <p:nvPr/>
        </p:nvSpPr>
        <p:spPr>
          <a:xfrm>
            <a:off x="406400" y="1308100"/>
            <a:ext cx="11379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33400" y="2159000"/>
            <a:ext cx="1905000" cy="190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9B6FCE-7FBB-548E-B02C-4DA1CC12A85C}"/>
              </a:ext>
            </a:extLst>
          </p:cNvPr>
          <p:cNvSpPr>
            <a:spLocks noGrp="1"/>
          </p:cNvSpPr>
          <p:nvPr/>
        </p:nvSpPr>
        <p:spPr>
          <a:xfrm>
            <a:off x="2921000" y="1600200"/>
            <a:ext cx="8509000" cy="361637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850" b="1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Eventstream consegna fatti piccoli e tipizzati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36CBFB1-B702-41D5-AAEC-FC79FB794EB1}"/>
              </a:ext>
            </a:extLst>
          </p:cNvPr>
          <p:cNvSpPr>
            <a:spLocks noGrp="1"/>
          </p:cNvSpPr>
          <p:nvPr/>
        </p:nvSpPr>
        <p:spPr>
          <a:xfrm>
            <a:off x="2921000" y="23368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A96EA-B3AD-B629-C289-DDC2AB235046}"/>
              </a:ext>
            </a:extLst>
          </p:cNvPr>
          <p:cNvSpPr>
            <a:spLocks noGrp="1"/>
          </p:cNvSpPr>
          <p:nvPr/>
        </p:nvSpPr>
        <p:spPr>
          <a:xfrm>
            <a:off x="2921000" y="25146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Eventhouse conserva la sequenza temporale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9297220-DFC4-4569-BEF1-AD71A1F807AD}"/>
              </a:ext>
            </a:extLst>
          </p:cNvPr>
          <p:cNvSpPr>
            <a:spLocks noGrp="1"/>
          </p:cNvSpPr>
          <p:nvPr/>
        </p:nvSpPr>
        <p:spPr>
          <a:xfrm>
            <a:off x="2921000" y="32512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14D7F-0922-F690-EC37-06DAE21779FB}"/>
              </a:ext>
            </a:extLst>
          </p:cNvPr>
          <p:cNvSpPr>
            <a:spLocks noGrp="1"/>
          </p:cNvSpPr>
          <p:nvPr/>
        </p:nvSpPr>
        <p:spPr>
          <a:xfrm>
            <a:off x="2921000" y="34290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Lakehouse aggiunge master data e lifecycle riusabili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F44290D-F1FB-4E83-8B2C-7E859EB92C32}"/>
              </a:ext>
            </a:extLst>
          </p:cNvPr>
          <p:cNvSpPr>
            <a:spLocks noGrp="1"/>
          </p:cNvSpPr>
          <p:nvPr/>
        </p:nvSpPr>
        <p:spPr>
          <a:xfrm>
            <a:off x="2921000" y="41656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25C412-1ACA-E484-4424-01175E1E86F7}"/>
              </a:ext>
            </a:extLst>
          </p:cNvPr>
          <p:cNvSpPr>
            <a:spLocks noGrp="1"/>
          </p:cNvSpPr>
          <p:nvPr/>
        </p:nvSpPr>
        <p:spPr>
          <a:xfrm>
            <a:off x="2921000" y="43434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Ontology, Graph e Twin rendono esplicito il contesto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DAA1822-489B-47EA-863E-8BCE221E93F9}"/>
              </a:ext>
            </a:extLst>
          </p:cNvPr>
          <p:cNvSpPr>
            <a:spLocks noGrp="1"/>
          </p:cNvSpPr>
          <p:nvPr/>
        </p:nvSpPr>
        <p:spPr>
          <a:xfrm>
            <a:off x="2921000" y="5080000"/>
            <a:ext cx="8572500" cy="0"/>
          </a:xfrm>
          <a:prstGeom prst="line">
            <a:avLst/>
          </a:prstGeom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FBF65-7506-D49C-1F85-2983D26889A8}"/>
              </a:ext>
            </a:extLst>
          </p:cNvPr>
          <p:cNvSpPr>
            <a:spLocks noGrp="1"/>
          </p:cNvSpPr>
          <p:nvPr/>
        </p:nvSpPr>
        <p:spPr>
          <a:xfrm>
            <a:off x="2921000" y="5257800"/>
            <a:ext cx="8509000" cy="338554"/>
          </a:xfrm>
          <a:prstGeom prst="rect">
            <a:avLst/>
          </a:prstGeom>
          <a:noFill/>
        </p:spPr>
        <p:txBody>
          <a:bodyPr vert="horz" lIns="76200" tIns="38100" rIns="76200" bIns="38100">
            <a:spAutoFit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170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KQL compone una risposta tracciabile per RunId</a:t>
            </a:r>
          </a:p>
        </p:txBody>
      </p:sp>
    </p:spTree>
    <p:extLst>
      <p:ext uri="{BB962C8B-B14F-4D97-AF65-F5344CB8AC3E}">
        <p14:creationId xmlns:p14="http://schemas.microsoft.com/office/powerpoint/2010/main" val="36836282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AB9E5-8CBE-4A53-A1B6-86525605D4AA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28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Ontology, Graph e Digital Twin</a:t>
            </a:r>
            <a:endParaRPr sz="28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4F313F-EF0C-453F-8E31-480E549AAFB7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9990E-5D1D-48EF-963D-D3DC35FB1EF4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DIGITAL TWIN BUILDER</a:t>
            </a:r>
            <a:endParaRPr sz="16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A7457-CF01-4BA2-BC29-D94796D164F6}"/>
              </a:ext>
            </a:extLst>
          </p:cNvPr>
          <p:cNvSpPr>
            <a:spLocks noGrp="1"/>
          </p:cNvSpPr>
          <p:nvPr/>
        </p:nvSpPr>
        <p:spPr>
          <a:xfrm>
            <a:off x="400050" y="19335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86CE1-13B7-45F5-8A0F-7E1155743C4F}"/>
              </a:ext>
            </a:extLst>
          </p:cNvPr>
          <p:cNvSpPr>
            <a:spLocks noGrp="1"/>
          </p:cNvSpPr>
          <p:nvPr/>
        </p:nvSpPr>
        <p:spPr>
          <a:xfrm>
            <a:off x="400050" y="210502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Gemello operativo degli asset
Mapping Lakehouse e time series
Relazioni via join di proprietà
Viste dom nel SQL endpoint</a:t>
            </a: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83E20F-BBB7-4FF5-B867-0EF2C075C664}"/>
              </a:ext>
            </a:extLst>
          </p:cNvPr>
          <p:cNvSpPr>
            <a:spLocks noGrp="1"/>
          </p:cNvSpPr>
          <p:nvPr/>
        </p:nvSpPr>
        <p:spPr>
          <a:xfrm>
            <a:off x="4318000" y="14859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ONTOLOGY E GRAPH</a:t>
            </a:r>
            <a:endParaRPr sz="1650" b="1" i="0">
              <a:solidFill>
                <a:srgbClr val="C84A24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351EB7-12DB-4CB6-A819-F3E093C6CCB1}"/>
              </a:ext>
            </a:extLst>
          </p:cNvPr>
          <p:cNvSpPr>
            <a:spLocks noGrp="1"/>
          </p:cNvSpPr>
          <p:nvPr/>
        </p:nvSpPr>
        <p:spPr>
          <a:xfrm>
            <a:off x="4318000" y="19335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A17A8-86B6-461A-B053-D37BDEF8EDC5}"/>
              </a:ext>
            </a:extLst>
          </p:cNvPr>
          <p:cNvSpPr>
            <a:spLocks noGrp="1"/>
          </p:cNvSpPr>
          <p:nvPr/>
        </p:nvSpPr>
        <p:spPr>
          <a:xfrm>
            <a:off x="4318000" y="210502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Vocabolario condiviso Fabric IQ
Binding Lakehouse ed Eventhouse
Graph gestito per traversate GQL
Contesto per agenti</a:t>
            </a: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988CE-7525-4D5F-9C3C-98ACCCAC77DC}"/>
              </a:ext>
            </a:extLst>
          </p:cNvPr>
          <p:cNvSpPr>
            <a:spLocks noGrp="1"/>
          </p:cNvSpPr>
          <p:nvPr/>
        </p:nvSpPr>
        <p:spPr>
          <a:xfrm>
            <a:off x="8235950" y="1485900"/>
            <a:ext cx="355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EVENTHOUSE E KQL</a:t>
            </a:r>
            <a:endParaRPr sz="1650" b="1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D6FAF-90AF-4934-A10F-962E030769B0}"/>
              </a:ext>
            </a:extLst>
          </p:cNvPr>
          <p:cNvSpPr>
            <a:spLocks noGrp="1"/>
          </p:cNvSpPr>
          <p:nvPr/>
        </p:nvSpPr>
        <p:spPr>
          <a:xfrm>
            <a:off x="8235950" y="1933575"/>
            <a:ext cx="3556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2B3136-A784-484C-8042-C105FDF7C403}"/>
              </a:ext>
            </a:extLst>
          </p:cNvPr>
          <p:cNvSpPr>
            <a:spLocks noGrp="1"/>
          </p:cNvSpPr>
          <p:nvPr/>
        </p:nvSpPr>
        <p:spPr>
          <a:xfrm>
            <a:off x="8235950" y="2105025"/>
            <a:ext cx="355600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Osservazioni per RunId e Timestamp
Correlazione Package–Motor
Picco osservato e contributo stimato
Risposta finale tracciabile</a:t>
            </a:r>
            <a:endParaRPr sz="1650" b="0" i="0">
              <a:solidFill>
                <a:srgbClr val="101010"/>
              </a:solidFill>
              <a:latin typeface="Segoe Print"/>
              <a:ea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2992511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7649278" y="1754042"/>
            <a:ext cx="1009650" cy="1009650"/>
          </a:xfrm>
          <a:prstGeom prst="rect">
            <a:avLst/>
          </a:prstGeom>
        </p:spPr>
      </p:pic>
      <p:pic>
        <p:nvPicPr>
          <p:cNvPr id="44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640" y="1549497"/>
            <a:ext cx="1094435" cy="1005856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41B99ECA-5E6B-D278-3AD5-03C9F8F9E5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>
            <a:normAutofit fontScale="90000"/>
          </a:bodyPr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17" name="Oval 70">
            <a:extLst>
              <a:ext uri="{FF2B5EF4-FFF2-40B4-BE49-F238E27FC236}">
                <a16:creationId xmlns:a16="http://schemas.microsoft.com/office/drawing/2014/main" id="{2C4BF83D-E0E3-E5E5-3184-164FABF92F5F}"/>
              </a:ext>
            </a:extLst>
          </p:cNvPr>
          <p:cNvSpPr>
            <a:spLocks noGrp="1"/>
          </p:cNvSpPr>
          <p:nvPr/>
        </p:nvSpPr>
        <p:spPr>
          <a:xfrm>
            <a:off x="7426883" y="3891370"/>
            <a:ext cx="1009948" cy="1005856"/>
          </a:xfrm>
          <a:prstGeom prst="ellipse">
            <a:avLst/>
          </a:prstGeom>
          <a:solidFill>
            <a:srgbClr val="0087A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F9513569-2C26-9A84-2B07-3A61D632BC19}"/>
              </a:ext>
            </a:extLst>
          </p:cNvPr>
          <p:cNvSpPr>
            <a:spLocks noGrp="1"/>
          </p:cNvSpPr>
          <p:nvPr/>
        </p:nvSpPr>
        <p:spPr>
          <a:xfrm>
            <a:off x="7680392" y="4128523"/>
            <a:ext cx="494752" cy="494752"/>
          </a:xfrm>
          <a:custGeom>
            <a:avLst/>
            <a:gdLst>
              <a:gd name="T0" fmla="*/ 23 w 98"/>
              <a:gd name="T1" fmla="*/ 98 h 98"/>
              <a:gd name="T2" fmla="*/ 2 w 98"/>
              <a:gd name="T3" fmla="*/ 98 h 98"/>
              <a:gd name="T4" fmla="*/ 2 w 98"/>
              <a:gd name="T5" fmla="*/ 32 h 98"/>
              <a:gd name="T6" fmla="*/ 23 w 98"/>
              <a:gd name="T7" fmla="*/ 32 h 98"/>
              <a:gd name="T8" fmla="*/ 23 w 98"/>
              <a:gd name="T9" fmla="*/ 98 h 98"/>
              <a:gd name="T10" fmla="*/ 12 w 98"/>
              <a:gd name="T11" fmla="*/ 24 h 98"/>
              <a:gd name="T12" fmla="*/ 0 w 98"/>
              <a:gd name="T13" fmla="*/ 12 h 98"/>
              <a:gd name="T14" fmla="*/ 12 w 98"/>
              <a:gd name="T15" fmla="*/ 0 h 98"/>
              <a:gd name="T16" fmla="*/ 24 w 98"/>
              <a:gd name="T17" fmla="*/ 12 h 98"/>
              <a:gd name="T18" fmla="*/ 12 w 98"/>
              <a:gd name="T19" fmla="*/ 24 h 98"/>
              <a:gd name="T20" fmla="*/ 98 w 98"/>
              <a:gd name="T21" fmla="*/ 98 h 98"/>
              <a:gd name="T22" fmla="*/ 78 w 98"/>
              <a:gd name="T23" fmla="*/ 98 h 98"/>
              <a:gd name="T24" fmla="*/ 78 w 98"/>
              <a:gd name="T25" fmla="*/ 64 h 98"/>
              <a:gd name="T26" fmla="*/ 67 w 98"/>
              <a:gd name="T27" fmla="*/ 49 h 98"/>
              <a:gd name="T28" fmla="*/ 55 w 98"/>
              <a:gd name="T29" fmla="*/ 64 h 98"/>
              <a:gd name="T30" fmla="*/ 55 w 98"/>
              <a:gd name="T31" fmla="*/ 98 h 98"/>
              <a:gd name="T32" fmla="*/ 35 w 98"/>
              <a:gd name="T33" fmla="*/ 98 h 98"/>
              <a:gd name="T34" fmla="*/ 35 w 98"/>
              <a:gd name="T35" fmla="*/ 32 h 98"/>
              <a:gd name="T36" fmla="*/ 55 w 98"/>
              <a:gd name="T37" fmla="*/ 32 h 98"/>
              <a:gd name="T38" fmla="*/ 55 w 98"/>
              <a:gd name="T39" fmla="*/ 41 h 98"/>
              <a:gd name="T40" fmla="*/ 75 w 98"/>
              <a:gd name="T41" fmla="*/ 30 h 98"/>
              <a:gd name="T42" fmla="*/ 98 w 98"/>
              <a:gd name="T43" fmla="*/ 56 h 98"/>
              <a:gd name="T44" fmla="*/ 98 w 98"/>
              <a:gd name="T45" fmla="*/ 98 h 98"/>
            </a:gdLst>
            <a:ahLst/>
            <a:cxnLst/>
            <a:rect l="0" t="0" r="r" b="b"/>
            <a:pathLst>
              <a:path w="98" h="98">
                <a:moveTo>
                  <a:pt x="23" y="98"/>
                </a:moveTo>
                <a:cubicBezTo>
                  <a:pt x="2" y="98"/>
                  <a:pt x="2" y="98"/>
                  <a:pt x="2" y="98"/>
                </a:cubicBezTo>
                <a:cubicBezTo>
                  <a:pt x="2" y="32"/>
                  <a:pt x="2" y="32"/>
                  <a:pt x="2" y="32"/>
                </a:cubicBezTo>
                <a:cubicBezTo>
                  <a:pt x="23" y="32"/>
                  <a:pt x="23" y="32"/>
                  <a:pt x="23" y="32"/>
                </a:cubicBezTo>
                <a:lnTo>
                  <a:pt x="23" y="98"/>
                </a:lnTo>
                <a:close/>
                <a:moveTo>
                  <a:pt x="12" y="24"/>
                </a:moveTo>
                <a:cubicBezTo>
                  <a:pt x="6" y="24"/>
                  <a:pt x="0" y="18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8"/>
                  <a:pt x="19" y="24"/>
                  <a:pt x="12" y="24"/>
                </a:cubicBezTo>
                <a:close/>
                <a:moveTo>
                  <a:pt x="98" y="98"/>
                </a:move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73"/>
                  <a:pt x="78" y="64"/>
                </a:cubicBezTo>
                <a:cubicBezTo>
                  <a:pt x="78" y="54"/>
                  <a:pt x="75" y="49"/>
                  <a:pt x="67" y="49"/>
                </a:cubicBezTo>
                <a:cubicBezTo>
                  <a:pt x="59" y="49"/>
                  <a:pt x="55" y="54"/>
                  <a:pt x="55" y="64"/>
                </a:cubicBezTo>
                <a:cubicBezTo>
                  <a:pt x="55" y="74"/>
                  <a:pt x="55" y="98"/>
                  <a:pt x="5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32"/>
                  <a:pt x="35" y="32"/>
                  <a:pt x="35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61" y="30"/>
                  <a:pt x="75" y="30"/>
                </a:cubicBezTo>
                <a:cubicBezTo>
                  <a:pt x="89" y="30"/>
                  <a:pt x="98" y="39"/>
                  <a:pt x="98" y="56"/>
                </a:cubicBezTo>
                <a:cubicBezTo>
                  <a:pt x="98" y="74"/>
                  <a:pt x="98" y="98"/>
                  <a:pt x="98" y="9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FCF970FC-74E7-C638-5539-B01408639D9D}"/>
              </a:ext>
            </a:extLst>
          </p:cNvPr>
          <p:cNvSpPr>
            <a:spLocks noGrp="1"/>
          </p:cNvSpPr>
          <p:nvPr/>
        </p:nvSpPr>
        <p:spPr>
          <a:xfrm>
            <a:off x="7426883" y="2758517"/>
            <a:ext cx="1009948" cy="1009948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Segoe Print"/>
              <a:ea typeface="Segoe Print"/>
              <a:cs typeface="Segoe Print"/>
            </a:endParaRPr>
          </a:p>
        </p:txBody>
      </p:sp>
      <p:sp>
        <p:nvSpPr>
          <p:cNvPr id="24" name="Oval 113">
            <a:extLst>
              <a:ext uri="{FF2B5EF4-FFF2-40B4-BE49-F238E27FC236}">
                <a16:creationId xmlns:a16="http://schemas.microsoft.com/office/drawing/2014/main" id="{71CDEFCF-0B99-F83C-32A9-B804371AB8DA}"/>
              </a:ext>
            </a:extLst>
          </p:cNvPr>
          <p:cNvSpPr>
            <a:spLocks noGrp="1"/>
          </p:cNvSpPr>
          <p:nvPr/>
        </p:nvSpPr>
        <p:spPr>
          <a:xfrm>
            <a:off x="7557789" y="2755160"/>
            <a:ext cx="763436" cy="763436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sp>
        <p:nvSpPr>
          <p:cNvPr id="25" name="Freeform 114">
            <a:extLst>
              <a:ext uri="{FF2B5EF4-FFF2-40B4-BE49-F238E27FC236}">
                <a16:creationId xmlns:a16="http://schemas.microsoft.com/office/drawing/2014/main" id="{CAF6AB4D-FFFD-24AD-54E6-80DBFA66D126}"/>
              </a:ext>
            </a:extLst>
          </p:cNvPr>
          <p:cNvSpPr>
            <a:spLocks noGrp="1"/>
          </p:cNvSpPr>
          <p:nvPr/>
        </p:nvSpPr>
        <p:spPr>
          <a:xfrm>
            <a:off x="7692789" y="3036723"/>
            <a:ext cx="482169" cy="469806"/>
          </a:xfrm>
          <a:custGeom>
            <a:avLst/>
            <a:gdLst>
              <a:gd name="T0" fmla="*/ 63 w 126"/>
              <a:gd name="T1" fmla="*/ 0 h 123"/>
              <a:gd name="T2" fmla="*/ 0 w 126"/>
              <a:gd name="T3" fmla="*/ 63 h 123"/>
              <a:gd name="T4" fmla="*/ 42 w 126"/>
              <a:gd name="T5" fmla="*/ 123 h 123"/>
              <a:gd name="T6" fmla="*/ 42 w 126"/>
              <a:gd name="T7" fmla="*/ 123 h 123"/>
              <a:gd name="T8" fmla="*/ 44 w 126"/>
              <a:gd name="T9" fmla="*/ 123 h 123"/>
              <a:gd name="T10" fmla="*/ 47 w 126"/>
              <a:gd name="T11" fmla="*/ 119 h 123"/>
              <a:gd name="T12" fmla="*/ 47 w 126"/>
              <a:gd name="T13" fmla="*/ 119 h 123"/>
              <a:gd name="T14" fmla="*/ 47 w 126"/>
              <a:gd name="T15" fmla="*/ 119 h 123"/>
              <a:gd name="T16" fmla="*/ 47 w 126"/>
              <a:gd name="T17" fmla="*/ 108 h 123"/>
              <a:gd name="T18" fmla="*/ 34 w 126"/>
              <a:gd name="T19" fmla="*/ 108 h 123"/>
              <a:gd name="T20" fmla="*/ 25 w 126"/>
              <a:gd name="T21" fmla="*/ 98 h 123"/>
              <a:gd name="T22" fmla="*/ 17 w 126"/>
              <a:gd name="T23" fmla="*/ 89 h 123"/>
              <a:gd name="T24" fmla="*/ 26 w 126"/>
              <a:gd name="T25" fmla="*/ 90 h 123"/>
              <a:gd name="T26" fmla="*/ 40 w 126"/>
              <a:gd name="T27" fmla="*/ 101 h 123"/>
              <a:gd name="T28" fmla="*/ 48 w 126"/>
              <a:gd name="T29" fmla="*/ 99 h 123"/>
              <a:gd name="T30" fmla="*/ 51 w 126"/>
              <a:gd name="T31" fmla="*/ 92 h 123"/>
              <a:gd name="T32" fmla="*/ 22 w 126"/>
              <a:gd name="T33" fmla="*/ 62 h 123"/>
              <a:gd name="T34" fmla="*/ 29 w 126"/>
              <a:gd name="T35" fmla="*/ 43 h 123"/>
              <a:gd name="T36" fmla="*/ 30 w 126"/>
              <a:gd name="T37" fmla="*/ 26 h 123"/>
              <a:gd name="T38" fmla="*/ 47 w 126"/>
              <a:gd name="T39" fmla="*/ 33 h 123"/>
              <a:gd name="T40" fmla="*/ 63 w 126"/>
              <a:gd name="T41" fmla="*/ 31 h 123"/>
              <a:gd name="T42" fmla="*/ 63 w 126"/>
              <a:gd name="T43" fmla="*/ 31 h 123"/>
              <a:gd name="T44" fmla="*/ 63 w 126"/>
              <a:gd name="T45" fmla="*/ 31 h 123"/>
              <a:gd name="T46" fmla="*/ 63 w 126"/>
              <a:gd name="T47" fmla="*/ 31 h 123"/>
              <a:gd name="T48" fmla="*/ 63 w 126"/>
              <a:gd name="T49" fmla="*/ 31 h 123"/>
              <a:gd name="T50" fmla="*/ 79 w 126"/>
              <a:gd name="T51" fmla="*/ 33 h 123"/>
              <a:gd name="T52" fmla="*/ 96 w 126"/>
              <a:gd name="T53" fmla="*/ 26 h 123"/>
              <a:gd name="T54" fmla="*/ 97 w 126"/>
              <a:gd name="T55" fmla="*/ 43 h 123"/>
              <a:gd name="T56" fmla="*/ 104 w 126"/>
              <a:gd name="T57" fmla="*/ 62 h 123"/>
              <a:gd name="T58" fmla="*/ 75 w 126"/>
              <a:gd name="T59" fmla="*/ 92 h 123"/>
              <a:gd name="T60" fmla="*/ 79 w 126"/>
              <a:gd name="T61" fmla="*/ 103 h 123"/>
              <a:gd name="T62" fmla="*/ 79 w 126"/>
              <a:gd name="T63" fmla="*/ 119 h 123"/>
              <a:gd name="T64" fmla="*/ 82 w 126"/>
              <a:gd name="T65" fmla="*/ 123 h 123"/>
              <a:gd name="T66" fmla="*/ 83 w 126"/>
              <a:gd name="T67" fmla="*/ 123 h 123"/>
              <a:gd name="T68" fmla="*/ 84 w 126"/>
              <a:gd name="T69" fmla="*/ 123 h 123"/>
              <a:gd name="T70" fmla="*/ 126 w 126"/>
              <a:gd name="T71" fmla="*/ 63 h 123"/>
              <a:gd name="T72" fmla="*/ 63 w 126"/>
              <a:gd name="T73" fmla="*/ 0 h 123"/>
            </a:gdLst>
            <a:ahLst/>
            <a:cxnLst/>
            <a:rect l="0" t="0" r="r" b="b"/>
            <a:pathLst>
              <a:path w="126" h="123">
                <a:moveTo>
                  <a:pt x="63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1"/>
                  <a:pt x="17" y="114"/>
                  <a:pt x="42" y="123"/>
                </a:cubicBezTo>
                <a:cubicBezTo>
                  <a:pt x="42" y="123"/>
                  <a:pt x="42" y="123"/>
                  <a:pt x="42" y="123"/>
                </a:cubicBezTo>
                <a:cubicBezTo>
                  <a:pt x="43" y="123"/>
                  <a:pt x="43" y="123"/>
                  <a:pt x="44" y="123"/>
                </a:cubicBezTo>
                <a:cubicBezTo>
                  <a:pt x="46" y="123"/>
                  <a:pt x="47" y="122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6"/>
                  <a:pt x="47" y="112"/>
                  <a:pt x="47" y="108"/>
                </a:cubicBezTo>
                <a:cubicBezTo>
                  <a:pt x="43" y="109"/>
                  <a:pt x="37" y="110"/>
                  <a:pt x="34" y="108"/>
                </a:cubicBezTo>
                <a:cubicBezTo>
                  <a:pt x="30" y="106"/>
                  <a:pt x="27" y="103"/>
                  <a:pt x="25" y="98"/>
                </a:cubicBezTo>
                <a:cubicBezTo>
                  <a:pt x="23" y="92"/>
                  <a:pt x="17" y="90"/>
                  <a:pt x="17" y="89"/>
                </a:cubicBezTo>
                <a:cubicBezTo>
                  <a:pt x="16" y="88"/>
                  <a:pt x="23" y="86"/>
                  <a:pt x="26" y="90"/>
                </a:cubicBezTo>
                <a:cubicBezTo>
                  <a:pt x="30" y="94"/>
                  <a:pt x="33" y="102"/>
                  <a:pt x="40" y="101"/>
                </a:cubicBezTo>
                <a:cubicBezTo>
                  <a:pt x="44" y="100"/>
                  <a:pt x="46" y="100"/>
                  <a:pt x="48" y="99"/>
                </a:cubicBezTo>
                <a:cubicBezTo>
                  <a:pt x="48" y="97"/>
                  <a:pt x="49" y="94"/>
                  <a:pt x="51" y="92"/>
                </a:cubicBezTo>
                <a:cubicBezTo>
                  <a:pt x="34" y="89"/>
                  <a:pt x="22" y="80"/>
                  <a:pt x="22" y="62"/>
                </a:cubicBezTo>
                <a:cubicBezTo>
                  <a:pt x="22" y="54"/>
                  <a:pt x="25" y="47"/>
                  <a:pt x="29" y="43"/>
                </a:cubicBezTo>
                <a:cubicBezTo>
                  <a:pt x="28" y="39"/>
                  <a:pt x="27" y="30"/>
                  <a:pt x="30" y="26"/>
                </a:cubicBezTo>
                <a:cubicBezTo>
                  <a:pt x="30" y="26"/>
                  <a:pt x="35" y="24"/>
                  <a:pt x="47" y="33"/>
                </a:cubicBezTo>
                <a:cubicBezTo>
                  <a:pt x="52" y="32"/>
                  <a:pt x="57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9" y="31"/>
                  <a:pt x="74" y="32"/>
                  <a:pt x="79" y="33"/>
                </a:cubicBezTo>
                <a:cubicBezTo>
                  <a:pt x="92" y="24"/>
                  <a:pt x="96" y="26"/>
                  <a:pt x="96" y="26"/>
                </a:cubicBezTo>
                <a:cubicBezTo>
                  <a:pt x="99" y="30"/>
                  <a:pt x="98" y="39"/>
                  <a:pt x="97" y="43"/>
                </a:cubicBezTo>
                <a:cubicBezTo>
                  <a:pt x="101" y="47"/>
                  <a:pt x="104" y="54"/>
                  <a:pt x="104" y="62"/>
                </a:cubicBezTo>
                <a:cubicBezTo>
                  <a:pt x="104" y="80"/>
                  <a:pt x="92" y="89"/>
                  <a:pt x="75" y="92"/>
                </a:cubicBezTo>
                <a:cubicBezTo>
                  <a:pt x="79" y="95"/>
                  <a:pt x="79" y="101"/>
                  <a:pt x="79" y="103"/>
                </a:cubicBezTo>
                <a:cubicBezTo>
                  <a:pt x="79" y="105"/>
                  <a:pt x="79" y="119"/>
                  <a:pt x="79" y="119"/>
                </a:cubicBezTo>
                <a:cubicBezTo>
                  <a:pt x="79" y="122"/>
                  <a:pt x="80" y="123"/>
                  <a:pt x="82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109" y="114"/>
                  <a:pt x="126" y="91"/>
                  <a:pt x="126" y="63"/>
                </a:cubicBezTo>
                <a:cubicBezTo>
                  <a:pt x="126" y="28"/>
                  <a:pt x="98" y="0"/>
                  <a:pt x="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Segoe Print"/>
              <a:ea typeface="Segoe Print"/>
              <a:cs typeface="Segoe Print"/>
            </a:endParaRPr>
          </a:p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48233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EBDB298-529B-C0CE-E825-88FD5398B184}"/>
              </a:ext>
            </a:extLst>
          </p:cNvPr>
          <p:cNvSpPr>
            <a:spLocks noGrp="1"/>
          </p:cNvSpPr>
          <p:nvPr/>
        </p:nvSpPr>
        <p:spPr>
          <a:xfrm>
            <a:off x="8658928" y="2065410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Print"/>
                <a:ea typeface="Segoe Print"/>
                <a:cs typeface="Segoe Print"/>
              </a:rPr>
              <a:t>marco_parenzan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451F45D-923B-FC99-27EA-129D0A8207A0}"/>
              </a:ext>
            </a:extLst>
          </p:cNvPr>
          <p:cNvSpPr>
            <a:spLocks noGrp="1"/>
          </p:cNvSpPr>
          <p:nvPr/>
        </p:nvSpPr>
        <p:spPr>
          <a:xfrm>
            <a:off x="8443480" y="3074728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2F09A416-9127-ED5F-6D8C-F52F1259E939}"/>
              </a:ext>
            </a:extLst>
          </p:cNvPr>
          <p:cNvSpPr>
            <a:spLocks noGrp="1"/>
          </p:cNvSpPr>
          <p:nvPr/>
        </p:nvSpPr>
        <p:spPr>
          <a:xfrm>
            <a:off x="8443480" y="4193915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0288F1C3-E226-147C-52B0-ADFFA57FD904}"/>
              </a:ext>
            </a:extLst>
          </p:cNvPr>
          <p:cNvSpPr>
            <a:spLocks noGrp="1"/>
          </p:cNvSpPr>
          <p:nvPr/>
        </p:nvSpPr>
        <p:spPr>
          <a:xfrm>
            <a:off x="8443480" y="5266447"/>
            <a:ext cx="4010025" cy="8032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</a:t>
            </a:r>
          </a:p>
        </p:txBody>
      </p:sp>
      <p:pic>
        <p:nvPicPr>
          <p:cNvPr id="56" name="Picture 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96437" y="2163252"/>
            <a:ext cx="1584901" cy="635751"/>
          </a:xfrm>
          <a:prstGeom prst="rect">
            <a:avLst/>
          </a:prstGeom>
        </p:spPr>
      </p:pic>
      <p:pic>
        <p:nvPicPr>
          <p:cNvPr id="57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84042" y="2921461"/>
            <a:ext cx="1609691" cy="652084"/>
          </a:xfrm>
          <a:prstGeom prst="rect">
            <a:avLst/>
          </a:prstGeom>
        </p:spPr>
      </p:pic>
      <p:pic>
        <p:nvPicPr>
          <p:cNvPr id="58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042" y="3696004"/>
            <a:ext cx="1609691" cy="536564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D819D90-6A6C-31CD-3E7F-A4CC9B5E3114}"/>
              </a:ext>
            </a:extLst>
          </p:cNvPr>
          <p:cNvSpPr>
            <a:spLocks noGrp="1"/>
          </p:cNvSpPr>
          <p:nvPr/>
        </p:nvSpPr>
        <p:spPr>
          <a:xfrm>
            <a:off x="8443480" y="1839853"/>
            <a:ext cx="3876675" cy="431800"/>
          </a:xfrm>
          <a:prstGeom prst="rect">
            <a:avLst/>
          </a:prstGeom>
        </p:spPr>
        <p:txBody>
          <a:bodyPr>
            <a:normAutofit fontScale="91642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Segoe Print"/>
                <a:ea typeface="Segoe Print"/>
                <a:cs typeface="Segoe Print"/>
              </a:rPr>
              <a:t>marcoparenzan.bsky.social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064E3A34-7197-5CAC-799D-6429F30E61C3}"/>
              </a:ext>
            </a:extLst>
          </p:cNvPr>
          <p:cNvSpPr>
            <a:spLocks noGrp="1"/>
          </p:cNvSpPr>
          <p:nvPr/>
        </p:nvSpPr>
        <p:spPr>
          <a:xfrm>
            <a:off x="6501628" y="2310943"/>
            <a:ext cx="7634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 sz="2800" b="1">
              <a:solidFill>
                <a:srgbClr val="324147"/>
              </a:solidFill>
              <a:latin typeface="Segoe Print"/>
              <a:ea typeface="Segoe Print"/>
              <a:cs typeface="Segoe Prin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3AB57-C2BA-5EF2-7A8E-A9151DFE7FF7}"/>
              </a:ext>
            </a:extLst>
          </p:cNvPr>
          <p:cNvSpPr>
            <a:spLocks noGrp="1"/>
          </p:cNvSpPr>
          <p:nvPr/>
        </p:nvSpPr>
        <p:spPr>
          <a:xfrm>
            <a:off x="5910884" y="1758090"/>
            <a:ext cx="7409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 cap="none" spc="0">
                <a:solidFill>
                  <a:srgbClr val="014085"/>
                </a:solidFill>
                <a:latin typeface="Segoe Print"/>
                <a:ea typeface="Segoe Print"/>
                <a:cs typeface="Segoe Print"/>
              </a:rPr>
              <a:t>IoT</a:t>
            </a:r>
          </a:p>
        </p:txBody>
      </p:sp>
      <p:pic>
        <p:nvPicPr>
          <p:cNvPr id="62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1701" y="4427381"/>
            <a:ext cx="1098970" cy="1275141"/>
          </a:xfrm>
          <a:prstGeom prst="rect">
            <a:avLst/>
          </a:prstGeom>
        </p:spPr>
      </p:pic>
      <p:pic>
        <p:nvPicPr>
          <p:cNvPr id="63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124349">
            <a:off x="6908880" y="4314933"/>
            <a:ext cx="609600" cy="914400"/>
          </a:xfrm>
          <a:prstGeom prst="rect">
            <a:avLst/>
          </a:prstGeom>
        </p:spPr>
      </p:pic>
      <p:pic>
        <p:nvPicPr>
          <p:cNvPr id="6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659039">
            <a:off x="6648774" y="4725872"/>
            <a:ext cx="609600" cy="914400"/>
          </a:xfrm>
          <a:prstGeom prst="rect">
            <a:avLst/>
          </a:prstGeom>
        </p:spPr>
      </p:pic>
      <p:pic>
        <p:nvPicPr>
          <p:cNvPr id="65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659396">
            <a:off x="6648774" y="5255655"/>
            <a:ext cx="609600" cy="914400"/>
          </a:xfrm>
          <a:prstGeom prst="rect">
            <a:avLst/>
          </a:prstGeom>
        </p:spPr>
      </p:pic>
      <p:pic>
        <p:nvPicPr>
          <p:cNvPr id="66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657831">
            <a:off x="6909466" y="5696999"/>
            <a:ext cx="609600" cy="914400"/>
          </a:xfrm>
          <a:prstGeom prst="rect">
            <a:avLst/>
          </a:prstGeom>
        </p:spPr>
      </p:pic>
      <p:pic>
        <p:nvPicPr>
          <p:cNvPr id="67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364" y="1754042"/>
            <a:ext cx="4094930" cy="40949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6A4E36E-22ED-E3CB-B800-D7534EAF8215}"/>
              </a:ext>
            </a:extLst>
          </p:cNvPr>
          <p:cNvSpPr>
            <a:spLocks noGrp="1"/>
          </p:cNvSpPr>
          <p:nvPr/>
        </p:nvSpPr>
        <p:spPr>
          <a:xfrm>
            <a:off x="428625" y="526255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43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defRPr>
            </a:pPr>
            <a:r>
              <a:rPr sz="4350" b="1" i="0">
                <a:solidFill>
                  <a:srgbClr val="111111"/>
                </a:solidFill>
                <a:latin typeface="Segoe Print"/>
                <a:ea typeface="Segoe Print"/>
                <a:cs typeface="Segoe Print"/>
              </a:rPr>
              <a:t>GRAZIE!</a:t>
            </a:r>
          </a:p>
        </p:txBody>
      </p:sp>
    </p:spTree>
    <p:extLst>
      <p:ext uri="{BB962C8B-B14F-4D97-AF65-F5344CB8AC3E}">
        <p14:creationId xmlns:p14="http://schemas.microsoft.com/office/powerpoint/2010/main" val="27309026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3706</Words>
  <Application>Microsoft Office PowerPoint</Application>
  <DocSecurity>0</DocSecurity>
  <PresentationFormat>Widescreen</PresentationFormat>
  <Paragraphs>457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Arial</vt:lpstr>
      <vt:lpstr>Calibri</vt:lpstr>
      <vt:lpstr>Segoe Print</vt:lpstr>
      <vt:lpstr>ChatGPT</vt:lpstr>
      <vt:lpstr>Digital Twin con Microsoft Fabric: dall’Ontologia al Graph</vt:lpstr>
      <vt:lpstr>PowerPoint Presentation</vt:lpstr>
      <vt:lpstr>Sono Marco Parenzan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Marco Parenzan</cp:lastModifiedBy>
  <cp:revision>1</cp:revision>
  <dcterms:created xsi:type="dcterms:W3CDTF">2026-09-18T09:43:18Z</dcterms:created>
  <dcterms:modified xsi:type="dcterms:W3CDTF">2026-09-18T10:48:33Z</dcterms:modified>
</cp:coreProperties>
</file>