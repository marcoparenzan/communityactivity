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7" r:id="rId2"/>
    <p:sldId id="271" r:id="rId3"/>
    <p:sldId id="274" r:id="rId4"/>
    <p:sldId id="256" r:id="rId5"/>
    <p:sldId id="276" r:id="rId6"/>
    <p:sldId id="273" r:id="rId7"/>
    <p:sldId id="263" r:id="rId8"/>
    <p:sldId id="264" r:id="rId9"/>
    <p:sldId id="265" r:id="rId10"/>
    <p:sldId id="257" r:id="rId11"/>
    <p:sldId id="258" r:id="rId12"/>
    <p:sldId id="259" r:id="rId13"/>
    <p:sldId id="260" r:id="rId14"/>
    <p:sldId id="261" r:id="rId15"/>
    <p:sldId id="262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4EA478-590A-4BCF-A9F5-108A87E8470A}">
          <p14:sldIdLst>
            <p14:sldId id="277"/>
            <p14:sldId id="271"/>
            <p14:sldId id="274"/>
            <p14:sldId id="256"/>
            <p14:sldId id="276"/>
          </p14:sldIdLst>
        </p14:section>
        <p14:section name="Untitled Section" id="{869EC479-1A43-4FB1-9F49-AC4364DA4094}">
          <p14:sldIdLst>
            <p14:sldId id="273"/>
            <p14:sldId id="263"/>
            <p14:sldId id="264"/>
            <p14:sldId id="265"/>
          </p14:sldIdLst>
        </p14:section>
        <p14:section name="Untitled Section" id="{461265AC-DB21-41E9-872D-B7DE567D8B9F}">
          <p14:sldIdLst>
            <p14:sldId id="257"/>
            <p14:sldId id="258"/>
            <p14:sldId id="259"/>
          </p14:sldIdLst>
        </p14:section>
        <p14:section name="Untitled Section" id="{BD69930A-1303-40AC-A237-0C552DFD5065}">
          <p14:sldIdLst>
            <p14:sldId id="260"/>
            <p14:sldId id="261"/>
            <p14:sldId id="262"/>
          </p14:sldIdLst>
        </p14:section>
        <p14:section name="Untitled Section" id="{1FD24151-A1EA-479C-85C9-120D98E40B78}">
          <p14:sldIdLst>
            <p14:sldId id="266"/>
            <p14:sldId id="267"/>
          </p14:sldIdLst>
        </p14:section>
        <p14:section name="Untitled Section" id="{D3C3566F-B45B-4913-8E94-695FEDF3A809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3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C114-11A4-114C-175C-A869EFEB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4E093-D86A-3574-4E9D-488DB70C4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58D79-5D05-2A07-276B-64B84F524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Apertura. Presentare Villa di Naon come ambiente sicuro per discutere possibilità, limiti e responsabilità. Anticipare che vedremo due demo correlate, oggi autonome.</a:t>
            </a:r>
          </a:p>
          <a:p>
            <a:endParaRPr/>
          </a:p>
          <a:p>
            <a:r>
              <a:t>Fonti interne: docs/project-context.md; docs/visual-style.md; docs/perche-genai.md.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6A143-4F76-692C-84C5-E8FABD5D78A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8463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Apertura. Presentare Villa di Naon come ambiente sicuro per discutere possibilità, limiti e responsabilità. Anticipare che vedremo due demo correlate, oggi autonome.</a:t>
            </a:r>
          </a:p>
          <a:p>
            <a:endParaRPr/>
          </a:p>
          <a:p>
            <a:r>
              <a:t>Fonti interne: docs/project-context.md; docs/visual-style.md; docs/perche-genai.md.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41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8633-6AD4-B7AA-CA6D-0F397F79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2C233-1704-C950-15EE-399B44626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4A658-5A8A-D619-0DA2-52C2A9263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Apertura. Presentare Villa di Naon come ambiente sicuro per discutere possibilità, limiti e responsabilità. Anticipare che vedremo due demo correlate, oggi autonome.</a:t>
            </a:r>
          </a:p>
          <a:p>
            <a:endParaRPr/>
          </a:p>
          <a:p>
            <a:r>
              <a:t>Fonti interne: docs/project-context.md; docs/visual-style.md; docs/perche-genai.md.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B21E2-3B43-9ECB-A4C8-4C763F486E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0059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Raccontare il progetto come prototipo costruito insieme alla GenAI. Codice, illustrazioni e contenuti nascono più rapidamente, ma la qualità dipende da contesto, criteri e revisione.</a:t>
            </a:r>
          </a:p>
          <a:p>
            <a:endParaRPr/>
          </a:p>
          <a:p>
            <a:r>
              <a:t>Fonti interne: docs/perche-genai.md; docs/visual-style.md.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Questa slide spiega il principio generale. Il modello propone, mentre il sistema prepara il contesto e applica controlli. Sul contatore IoT il calcolo deterministico prevale se non coincide con la risposta del modello.</a:t>
            </a:r>
          </a:p>
          <a:p>
            <a:endParaRPr/>
          </a:p>
          <a:p>
            <a:r>
              <a:t>Fonti interne: docs/perche-genai.md; src/VillaDiNaon.Web/Services/WaterConsumptionCalculator.cs.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Usare questa slide per chiarire cosa la demo non promette. Le regole devono diventare requisiti del servizio, non avvertenze aggiunte alla fine.</a:t>
            </a:r>
          </a:p>
          <a:p>
            <a:endParaRPr/>
          </a:p>
          <a:p>
            <a:r>
              <a:t>Fonti interne: docs/project-context.md; docs/perche-genai.md.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Partire dall'attrito quotidiano. L'obiettivo non è aumentare le conversazioni con l'AI, ma ridurre errori, passaggi e tempi di orientamento.</a:t>
            </a:r>
          </a:p>
          <a:p>
            <a:endParaRPr/>
          </a:p>
          <a:p>
            <a:r>
              <a:t>Fonti interne: docs/perche-genai.md.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Questa è la scaletta della sessione. Mostrare prima il punto di vista del cittadino, poi il lavoro dell'agente e dei workflow. Sottolineare che le due demo non dialogano ancora.</a:t>
            </a:r>
          </a:p>
          <a:p>
            <a:endParaRPr/>
          </a:p>
          <a:p>
            <a:r>
              <a:t>Fonti interne: docs/perche-genai.md.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Non presentare un'integrazione già esistente. Le demo condividono scenari e vocabolario, ma oggi il passaggio dati è oggetto della roadmap.</a:t>
            </a:r>
          </a:p>
          <a:p>
            <a:endParaRPr/>
          </a:p>
          <a:p>
            <a:r>
              <a:t>Fonti interne: docs/perche-genai.md; docs/copilot-studio-agent.md.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Durante la demo live mostrare la home, l'elenco servizi e un percorso. Il punto chiave è la continuità fra linguaggio naturale e modulo verificabile.</a:t>
            </a:r>
          </a:p>
          <a:p>
            <a:endParaRPr/>
          </a:p>
          <a:p>
            <a:r>
              <a:t>Fonti interne: README.md; docs/services.md; docs/perche-genai.md.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Mostrare che l'assistente non nasconde il passaggio di contesto. La richiesta originale può precompilare la bozza, ma resta modificabile prima dell'invio.</a:t>
            </a:r>
          </a:p>
          <a:p>
            <a:endParaRPr/>
          </a:p>
          <a:p>
            <a:r>
              <a:t>Fonti interne: docs/perche-genai.md; src/VillaDiNaon.Web/Services/ServiceChatRouter.cs.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Esempio principale: danno stradale. L'AI visuale propone una lettura strutturata, ma non deduce indirizzi, persone o targhe. La posizione della demo è simulata.</a:t>
            </a:r>
          </a:p>
          <a:p>
            <a:endParaRPr/>
          </a:p>
          <a:p>
            <a:r>
              <a:t>Fonti interne: docs/perche-genai.md; src/VillaDiNaon.Web/Services/GptVisionAnalysisService.cs.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Transizione alla seconda demo. Aprire Copilot Studio e mostrare agente, istruzioni, strumenti e cronologia del flusso. Dichiarare che oggi la demo è autonoma.</a:t>
            </a:r>
          </a:p>
          <a:p>
            <a:endParaRPr/>
          </a:p>
          <a:p>
            <a:r>
              <a:t>Fonti interne: docs/copilot-studio-agent.md; integrations/copilot-studio/README.md.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Nella demo Copilot Studio mostra il valore operativo: istruzioni dell'agente, classificazione e chiamata del workflow. La cronologia aiuta a capire quale azione è stata eseguita e con quale esito.</a:t>
            </a:r>
          </a:p>
          <a:p>
            <a:endParaRPr/>
          </a:p>
          <a:p>
            <a:r>
              <a:t>Fonti interne: docs/copilot-studio-agent.md.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Questa è la visione architetturale del repository, non lo stato live delle demo. Il callbackReference limita il destinatario e rende il passaggio correlabile. Prima dell'attivazione serve collaudo completo.</a:t>
            </a:r>
          </a:p>
          <a:p>
            <a:endParaRPr/>
          </a:p>
          <a:p>
            <a:r>
              <a:t>Fonti interne: docs/copilot-studio-agent.md;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Chiudere con un approccio graduale. Misurare l'effetto sul servizio e sul lavoro degli uffici, non il numero di messaggi scambiati con l'assistente.</a:t>
            </a:r>
          </a:p>
          <a:p>
            <a:endParaRPr/>
          </a:p>
          <a:p>
            <a:r>
              <a:t>Fonti interne: docs/perche-genai.md.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Invitare il pubblico a indicare un servizio reale con attrito evidente. La discussione può partire da volume, ricorrenza, qualità delle richieste e possibilità di mantenere una supervisione chiara.</a:t>
            </a:r>
          </a:p>
          <a:p>
            <a:endParaRPr/>
          </a:p>
          <a:p>
            <a:r>
              <a:t>Fonti interne: docs/perche-genai.md.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DDB8237-9191-48BD-7AF6-91C51EB764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5409" y="6205916"/>
            <a:ext cx="1609691" cy="652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6BE30-A378-66E9-0CB2-F6F80829DD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27" y="6183722"/>
            <a:ext cx="2551241" cy="8774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3C59B1-E9C8-4497-31A4-14850E307628}"/>
              </a:ext>
            </a:extLst>
          </p:cNvPr>
          <p:cNvSpPr>
            <a:spLocks noGrp="1"/>
          </p:cNvSpPr>
          <p:nvPr userDrawn="1"/>
        </p:nvSpPr>
        <p:spPr>
          <a:xfrm>
            <a:off x="1971674" y="6496050"/>
            <a:ext cx="804862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Villa di Naon: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Comune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,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persone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,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servizi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 e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dati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completamente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fittizi</a:t>
            </a:r>
            <a:endParaRPr sz="1050" b="0" dirty="0">
              <a:solidFill>
                <a:srgbClr val="5C6675"/>
              </a:solidFill>
              <a:latin typeface="Trebuchet MS"/>
              <a:ea typeface="Trebuchet MS"/>
              <a:cs typeface="Trebuchet M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DDB8237-9191-48BD-7AF6-91C51EB764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5409" y="6205916"/>
            <a:ext cx="1609691" cy="652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6BE30-A378-66E9-0CB2-F6F80829DD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27" y="6183722"/>
            <a:ext cx="2551241" cy="8774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3C59B1-E9C8-4497-31A4-14850E307628}"/>
              </a:ext>
            </a:extLst>
          </p:cNvPr>
          <p:cNvSpPr>
            <a:spLocks noGrp="1"/>
          </p:cNvSpPr>
          <p:nvPr userDrawn="1"/>
        </p:nvSpPr>
        <p:spPr>
          <a:xfrm>
            <a:off x="1971674" y="6496050"/>
            <a:ext cx="804862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Villa di Naon: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Comune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,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persone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,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servizi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 e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dati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completamente</a:t>
            </a:r>
            <a:r>
              <a:rPr sz="1050" b="0" dirty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050" b="0" dirty="0" err="1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fittizi</a:t>
            </a:r>
            <a:endParaRPr sz="1050" b="0" dirty="0">
              <a:solidFill>
                <a:srgbClr val="5C6675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59C0F5-8398-AD6F-48A1-82D86A9B9C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03016"/>
            <a:ext cx="10515600" cy="4024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558F08-1553-ED5C-7D43-A582B940F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0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08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4.jpe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essionize.com/marcoparenzan" TargetMode="External"/><Relationship Id="rId11" Type="http://schemas.openxmlformats.org/officeDocument/2006/relationships/image" Target="../media/image7.svg"/><Relationship Id="rId5" Type="http://schemas.openxmlformats.org/officeDocument/2006/relationships/hyperlink" Target="https://www.linkedin.com/in/marcoparenzan/" TargetMode="Externa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hyperlink" Target="https://github.com/marcoparenzan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009A-46DE-EFBB-B457-C1BA035F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A309FD-053B-B4C3-2912-965AE1D6D9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0757A6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0AE1A-B303-75CC-D3D6-DDF7B1999EEE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10883900" cy="1600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41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lang="it-IT" sz="4125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Casi pratici di soluzioni software sviluppate con l’IA</a:t>
            </a:r>
            <a:endParaRPr sz="4125" b="1" dirty="0">
              <a:solidFill>
                <a:srgbClr val="0E1726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D4DAF-8A9E-4356-5F30-4BBF74D3CF84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950" b="1">
                <a:solidFill>
                  <a:srgbClr val="0757A6"/>
                </a:solidFill>
                <a:latin typeface="Trebuchet MS"/>
                <a:ea typeface="Trebuchet MS"/>
                <a:cs typeface="Trebuchet MS"/>
              </a:defRPr>
            </a:pPr>
            <a:r>
              <a:rPr lang="it-IT" sz="1950" b="1" dirty="0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Marco Parenzan</a:t>
            </a:r>
            <a:endParaRPr sz="1950" b="1" dirty="0">
              <a:solidFill>
                <a:srgbClr val="0757A6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92F7F8-8982-D712-2E81-E5C5FF655E7E}"/>
              </a:ext>
            </a:extLst>
          </p:cNvPr>
          <p:cNvSpPr/>
          <p:nvPr/>
        </p:nvSpPr>
        <p:spPr>
          <a:xfrm>
            <a:off x="1968500" y="6337300"/>
            <a:ext cx="4826000" cy="520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5941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70">
            <a:extLst>
              <a:ext uri="{FF2B5EF4-FFF2-40B4-BE49-F238E27FC236}">
                <a16:creationId xmlns:a16="http://schemas.microsoft.com/office/drawing/2014/main" id="{3E4B15EC-057E-D3A4-CF89-CC3474A49185}"/>
              </a:ext>
            </a:extLst>
          </p:cNvPr>
          <p:cNvSpPr>
            <a:spLocks noGrp="1"/>
          </p:cNvSpPr>
          <p:nvPr/>
        </p:nvSpPr>
        <p:spPr>
          <a:xfrm>
            <a:off x="7661131" y="3052304"/>
            <a:ext cx="1009948" cy="1005856"/>
          </a:xfrm>
          <a:prstGeom prst="ellipse">
            <a:avLst/>
          </a:prstGeom>
          <a:solidFill>
            <a:srgbClr val="0087A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0" name="Freeform 71">
            <a:extLst>
              <a:ext uri="{FF2B5EF4-FFF2-40B4-BE49-F238E27FC236}">
                <a16:creationId xmlns:a16="http://schemas.microsoft.com/office/drawing/2014/main" id="{7F33777F-EA93-9A7D-5C8D-33FF3A52DA90}"/>
              </a:ext>
            </a:extLst>
          </p:cNvPr>
          <p:cNvSpPr>
            <a:spLocks noGrp="1"/>
          </p:cNvSpPr>
          <p:nvPr/>
        </p:nvSpPr>
        <p:spPr>
          <a:xfrm>
            <a:off x="7914640" y="3289457"/>
            <a:ext cx="494752" cy="494752"/>
          </a:xfrm>
          <a:custGeom>
            <a:avLst/>
            <a:gdLst>
              <a:gd name="T0" fmla="*/ 23 w 98"/>
              <a:gd name="T1" fmla="*/ 98 h 98"/>
              <a:gd name="T2" fmla="*/ 2 w 98"/>
              <a:gd name="T3" fmla="*/ 98 h 98"/>
              <a:gd name="T4" fmla="*/ 2 w 98"/>
              <a:gd name="T5" fmla="*/ 32 h 98"/>
              <a:gd name="T6" fmla="*/ 23 w 98"/>
              <a:gd name="T7" fmla="*/ 32 h 98"/>
              <a:gd name="T8" fmla="*/ 23 w 98"/>
              <a:gd name="T9" fmla="*/ 98 h 98"/>
              <a:gd name="T10" fmla="*/ 12 w 98"/>
              <a:gd name="T11" fmla="*/ 24 h 98"/>
              <a:gd name="T12" fmla="*/ 0 w 98"/>
              <a:gd name="T13" fmla="*/ 12 h 98"/>
              <a:gd name="T14" fmla="*/ 12 w 98"/>
              <a:gd name="T15" fmla="*/ 0 h 98"/>
              <a:gd name="T16" fmla="*/ 24 w 98"/>
              <a:gd name="T17" fmla="*/ 12 h 98"/>
              <a:gd name="T18" fmla="*/ 12 w 98"/>
              <a:gd name="T19" fmla="*/ 24 h 98"/>
              <a:gd name="T20" fmla="*/ 98 w 98"/>
              <a:gd name="T21" fmla="*/ 98 h 98"/>
              <a:gd name="T22" fmla="*/ 78 w 98"/>
              <a:gd name="T23" fmla="*/ 98 h 98"/>
              <a:gd name="T24" fmla="*/ 78 w 98"/>
              <a:gd name="T25" fmla="*/ 64 h 98"/>
              <a:gd name="T26" fmla="*/ 67 w 98"/>
              <a:gd name="T27" fmla="*/ 49 h 98"/>
              <a:gd name="T28" fmla="*/ 55 w 98"/>
              <a:gd name="T29" fmla="*/ 64 h 98"/>
              <a:gd name="T30" fmla="*/ 55 w 98"/>
              <a:gd name="T31" fmla="*/ 98 h 98"/>
              <a:gd name="T32" fmla="*/ 35 w 98"/>
              <a:gd name="T33" fmla="*/ 98 h 98"/>
              <a:gd name="T34" fmla="*/ 35 w 98"/>
              <a:gd name="T35" fmla="*/ 32 h 98"/>
              <a:gd name="T36" fmla="*/ 55 w 98"/>
              <a:gd name="T37" fmla="*/ 32 h 98"/>
              <a:gd name="T38" fmla="*/ 55 w 98"/>
              <a:gd name="T39" fmla="*/ 41 h 98"/>
              <a:gd name="T40" fmla="*/ 75 w 98"/>
              <a:gd name="T41" fmla="*/ 30 h 98"/>
              <a:gd name="T42" fmla="*/ 98 w 98"/>
              <a:gd name="T43" fmla="*/ 56 h 98"/>
              <a:gd name="T44" fmla="*/ 98 w 98"/>
              <a:gd name="T45" fmla="*/ 98 h 98"/>
            </a:gdLst>
            <a:ahLst/>
            <a:cxnLst/>
            <a:rect l="0" t="0" r="r" b="b"/>
            <a:pathLst>
              <a:path w="98" h="98">
                <a:moveTo>
                  <a:pt x="23" y="98"/>
                </a:moveTo>
                <a:cubicBezTo>
                  <a:pt x="2" y="98"/>
                  <a:pt x="2" y="98"/>
                  <a:pt x="2" y="98"/>
                </a:cubicBezTo>
                <a:cubicBezTo>
                  <a:pt x="2" y="32"/>
                  <a:pt x="2" y="32"/>
                  <a:pt x="2" y="32"/>
                </a:cubicBezTo>
                <a:cubicBezTo>
                  <a:pt x="23" y="32"/>
                  <a:pt x="23" y="32"/>
                  <a:pt x="23" y="32"/>
                </a:cubicBezTo>
                <a:lnTo>
                  <a:pt x="23" y="98"/>
                </a:lnTo>
                <a:close/>
                <a:moveTo>
                  <a:pt x="12" y="24"/>
                </a:moveTo>
                <a:cubicBezTo>
                  <a:pt x="6" y="24"/>
                  <a:pt x="0" y="18"/>
                  <a:pt x="0" y="12"/>
                </a:cubicBezTo>
                <a:cubicBezTo>
                  <a:pt x="0" y="5"/>
                  <a:pt x="6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18"/>
                  <a:pt x="19" y="24"/>
                  <a:pt x="12" y="24"/>
                </a:cubicBezTo>
                <a:close/>
                <a:moveTo>
                  <a:pt x="98" y="98"/>
                </a:moveTo>
                <a:cubicBezTo>
                  <a:pt x="78" y="98"/>
                  <a:pt x="78" y="98"/>
                  <a:pt x="78" y="98"/>
                </a:cubicBezTo>
                <a:cubicBezTo>
                  <a:pt x="78" y="98"/>
                  <a:pt x="78" y="73"/>
                  <a:pt x="78" y="64"/>
                </a:cubicBezTo>
                <a:cubicBezTo>
                  <a:pt x="78" y="54"/>
                  <a:pt x="75" y="49"/>
                  <a:pt x="67" y="49"/>
                </a:cubicBezTo>
                <a:cubicBezTo>
                  <a:pt x="59" y="49"/>
                  <a:pt x="55" y="54"/>
                  <a:pt x="55" y="64"/>
                </a:cubicBezTo>
                <a:cubicBezTo>
                  <a:pt x="55" y="74"/>
                  <a:pt x="55" y="98"/>
                  <a:pt x="55" y="98"/>
                </a:cubicBezTo>
                <a:cubicBezTo>
                  <a:pt x="35" y="98"/>
                  <a:pt x="35" y="98"/>
                  <a:pt x="35" y="98"/>
                </a:cubicBezTo>
                <a:cubicBezTo>
                  <a:pt x="35" y="32"/>
                  <a:pt x="35" y="32"/>
                  <a:pt x="35" y="32"/>
                </a:cubicBezTo>
                <a:cubicBezTo>
                  <a:pt x="55" y="32"/>
                  <a:pt x="55" y="32"/>
                  <a:pt x="55" y="3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61" y="30"/>
                  <a:pt x="75" y="30"/>
                </a:cubicBezTo>
                <a:cubicBezTo>
                  <a:pt x="89" y="30"/>
                  <a:pt x="98" y="39"/>
                  <a:pt x="98" y="56"/>
                </a:cubicBezTo>
                <a:cubicBezTo>
                  <a:pt x="98" y="74"/>
                  <a:pt x="98" y="98"/>
                  <a:pt x="98" y="9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2" name="Oval 46">
            <a:extLst>
              <a:ext uri="{FF2B5EF4-FFF2-40B4-BE49-F238E27FC236}">
                <a16:creationId xmlns:a16="http://schemas.microsoft.com/office/drawing/2014/main" id="{7D12CDD8-2932-E6AA-D2D6-E7EC980028E4}"/>
              </a:ext>
            </a:extLst>
          </p:cNvPr>
          <p:cNvSpPr>
            <a:spLocks noGrp="1"/>
          </p:cNvSpPr>
          <p:nvPr/>
        </p:nvSpPr>
        <p:spPr>
          <a:xfrm>
            <a:off x="7661131" y="1919451"/>
            <a:ext cx="1009948" cy="1009948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4" name="Oval 113">
            <a:extLst>
              <a:ext uri="{FF2B5EF4-FFF2-40B4-BE49-F238E27FC236}">
                <a16:creationId xmlns:a16="http://schemas.microsoft.com/office/drawing/2014/main" id="{33C7A412-60D1-52E6-B99E-C4CF1B46C45C}"/>
              </a:ext>
            </a:extLst>
          </p:cNvPr>
          <p:cNvSpPr>
            <a:spLocks noGrp="1"/>
          </p:cNvSpPr>
          <p:nvPr/>
        </p:nvSpPr>
        <p:spPr>
          <a:xfrm>
            <a:off x="7792037" y="1916094"/>
            <a:ext cx="763436" cy="763436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25" name="Freeform 114">
            <a:extLst>
              <a:ext uri="{FF2B5EF4-FFF2-40B4-BE49-F238E27FC236}">
                <a16:creationId xmlns:a16="http://schemas.microsoft.com/office/drawing/2014/main" id="{6A267327-64CE-BDEB-6EAB-BE915EFF38C3}"/>
              </a:ext>
            </a:extLst>
          </p:cNvPr>
          <p:cNvSpPr>
            <a:spLocks noGrp="1"/>
          </p:cNvSpPr>
          <p:nvPr/>
        </p:nvSpPr>
        <p:spPr>
          <a:xfrm>
            <a:off x="7927037" y="2197657"/>
            <a:ext cx="482169" cy="469806"/>
          </a:xfrm>
          <a:custGeom>
            <a:avLst/>
            <a:gdLst>
              <a:gd name="T0" fmla="*/ 63 w 126"/>
              <a:gd name="T1" fmla="*/ 0 h 123"/>
              <a:gd name="T2" fmla="*/ 0 w 126"/>
              <a:gd name="T3" fmla="*/ 63 h 123"/>
              <a:gd name="T4" fmla="*/ 42 w 126"/>
              <a:gd name="T5" fmla="*/ 123 h 123"/>
              <a:gd name="T6" fmla="*/ 42 w 126"/>
              <a:gd name="T7" fmla="*/ 123 h 123"/>
              <a:gd name="T8" fmla="*/ 44 w 126"/>
              <a:gd name="T9" fmla="*/ 123 h 123"/>
              <a:gd name="T10" fmla="*/ 47 w 126"/>
              <a:gd name="T11" fmla="*/ 119 h 123"/>
              <a:gd name="T12" fmla="*/ 47 w 126"/>
              <a:gd name="T13" fmla="*/ 119 h 123"/>
              <a:gd name="T14" fmla="*/ 47 w 126"/>
              <a:gd name="T15" fmla="*/ 119 h 123"/>
              <a:gd name="T16" fmla="*/ 47 w 126"/>
              <a:gd name="T17" fmla="*/ 108 h 123"/>
              <a:gd name="T18" fmla="*/ 34 w 126"/>
              <a:gd name="T19" fmla="*/ 108 h 123"/>
              <a:gd name="T20" fmla="*/ 25 w 126"/>
              <a:gd name="T21" fmla="*/ 98 h 123"/>
              <a:gd name="T22" fmla="*/ 17 w 126"/>
              <a:gd name="T23" fmla="*/ 89 h 123"/>
              <a:gd name="T24" fmla="*/ 26 w 126"/>
              <a:gd name="T25" fmla="*/ 90 h 123"/>
              <a:gd name="T26" fmla="*/ 40 w 126"/>
              <a:gd name="T27" fmla="*/ 101 h 123"/>
              <a:gd name="T28" fmla="*/ 48 w 126"/>
              <a:gd name="T29" fmla="*/ 99 h 123"/>
              <a:gd name="T30" fmla="*/ 51 w 126"/>
              <a:gd name="T31" fmla="*/ 92 h 123"/>
              <a:gd name="T32" fmla="*/ 22 w 126"/>
              <a:gd name="T33" fmla="*/ 62 h 123"/>
              <a:gd name="T34" fmla="*/ 29 w 126"/>
              <a:gd name="T35" fmla="*/ 43 h 123"/>
              <a:gd name="T36" fmla="*/ 30 w 126"/>
              <a:gd name="T37" fmla="*/ 26 h 123"/>
              <a:gd name="T38" fmla="*/ 47 w 126"/>
              <a:gd name="T39" fmla="*/ 33 h 123"/>
              <a:gd name="T40" fmla="*/ 63 w 126"/>
              <a:gd name="T41" fmla="*/ 31 h 123"/>
              <a:gd name="T42" fmla="*/ 63 w 126"/>
              <a:gd name="T43" fmla="*/ 31 h 123"/>
              <a:gd name="T44" fmla="*/ 63 w 126"/>
              <a:gd name="T45" fmla="*/ 31 h 123"/>
              <a:gd name="T46" fmla="*/ 63 w 126"/>
              <a:gd name="T47" fmla="*/ 31 h 123"/>
              <a:gd name="T48" fmla="*/ 63 w 126"/>
              <a:gd name="T49" fmla="*/ 31 h 123"/>
              <a:gd name="T50" fmla="*/ 79 w 126"/>
              <a:gd name="T51" fmla="*/ 33 h 123"/>
              <a:gd name="T52" fmla="*/ 96 w 126"/>
              <a:gd name="T53" fmla="*/ 26 h 123"/>
              <a:gd name="T54" fmla="*/ 97 w 126"/>
              <a:gd name="T55" fmla="*/ 43 h 123"/>
              <a:gd name="T56" fmla="*/ 104 w 126"/>
              <a:gd name="T57" fmla="*/ 62 h 123"/>
              <a:gd name="T58" fmla="*/ 75 w 126"/>
              <a:gd name="T59" fmla="*/ 92 h 123"/>
              <a:gd name="T60" fmla="*/ 79 w 126"/>
              <a:gd name="T61" fmla="*/ 103 h 123"/>
              <a:gd name="T62" fmla="*/ 79 w 126"/>
              <a:gd name="T63" fmla="*/ 119 h 123"/>
              <a:gd name="T64" fmla="*/ 82 w 126"/>
              <a:gd name="T65" fmla="*/ 123 h 123"/>
              <a:gd name="T66" fmla="*/ 83 w 126"/>
              <a:gd name="T67" fmla="*/ 123 h 123"/>
              <a:gd name="T68" fmla="*/ 84 w 126"/>
              <a:gd name="T69" fmla="*/ 123 h 123"/>
              <a:gd name="T70" fmla="*/ 126 w 126"/>
              <a:gd name="T71" fmla="*/ 63 h 123"/>
              <a:gd name="T72" fmla="*/ 63 w 126"/>
              <a:gd name="T73" fmla="*/ 0 h 123"/>
            </a:gdLst>
            <a:ahLst/>
            <a:cxnLst/>
            <a:rect l="0" t="0" r="r" b="b"/>
            <a:pathLst>
              <a:path w="126" h="123">
                <a:moveTo>
                  <a:pt x="63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1"/>
                  <a:pt x="17" y="114"/>
                  <a:pt x="42" y="123"/>
                </a:cubicBezTo>
                <a:cubicBezTo>
                  <a:pt x="42" y="123"/>
                  <a:pt x="42" y="123"/>
                  <a:pt x="42" y="123"/>
                </a:cubicBezTo>
                <a:cubicBezTo>
                  <a:pt x="43" y="123"/>
                  <a:pt x="43" y="123"/>
                  <a:pt x="44" y="123"/>
                </a:cubicBezTo>
                <a:cubicBezTo>
                  <a:pt x="46" y="123"/>
                  <a:pt x="47" y="122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6"/>
                  <a:pt x="47" y="112"/>
                  <a:pt x="47" y="108"/>
                </a:cubicBezTo>
                <a:cubicBezTo>
                  <a:pt x="43" y="109"/>
                  <a:pt x="37" y="110"/>
                  <a:pt x="34" y="108"/>
                </a:cubicBezTo>
                <a:cubicBezTo>
                  <a:pt x="30" y="106"/>
                  <a:pt x="27" y="103"/>
                  <a:pt x="25" y="98"/>
                </a:cubicBezTo>
                <a:cubicBezTo>
                  <a:pt x="23" y="92"/>
                  <a:pt x="17" y="90"/>
                  <a:pt x="17" y="89"/>
                </a:cubicBezTo>
                <a:cubicBezTo>
                  <a:pt x="16" y="88"/>
                  <a:pt x="23" y="86"/>
                  <a:pt x="26" y="90"/>
                </a:cubicBezTo>
                <a:cubicBezTo>
                  <a:pt x="30" y="94"/>
                  <a:pt x="33" y="102"/>
                  <a:pt x="40" y="101"/>
                </a:cubicBezTo>
                <a:cubicBezTo>
                  <a:pt x="44" y="100"/>
                  <a:pt x="46" y="100"/>
                  <a:pt x="48" y="99"/>
                </a:cubicBezTo>
                <a:cubicBezTo>
                  <a:pt x="48" y="97"/>
                  <a:pt x="49" y="94"/>
                  <a:pt x="51" y="92"/>
                </a:cubicBezTo>
                <a:cubicBezTo>
                  <a:pt x="34" y="89"/>
                  <a:pt x="22" y="80"/>
                  <a:pt x="22" y="62"/>
                </a:cubicBezTo>
                <a:cubicBezTo>
                  <a:pt x="22" y="54"/>
                  <a:pt x="25" y="47"/>
                  <a:pt x="29" y="43"/>
                </a:cubicBezTo>
                <a:cubicBezTo>
                  <a:pt x="28" y="39"/>
                  <a:pt x="27" y="30"/>
                  <a:pt x="30" y="26"/>
                </a:cubicBezTo>
                <a:cubicBezTo>
                  <a:pt x="30" y="26"/>
                  <a:pt x="35" y="24"/>
                  <a:pt x="47" y="33"/>
                </a:cubicBezTo>
                <a:cubicBezTo>
                  <a:pt x="52" y="32"/>
                  <a:pt x="57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9" y="31"/>
                  <a:pt x="74" y="32"/>
                  <a:pt x="79" y="33"/>
                </a:cubicBezTo>
                <a:cubicBezTo>
                  <a:pt x="92" y="24"/>
                  <a:pt x="96" y="26"/>
                  <a:pt x="96" y="26"/>
                </a:cubicBezTo>
                <a:cubicBezTo>
                  <a:pt x="99" y="30"/>
                  <a:pt x="98" y="39"/>
                  <a:pt x="97" y="43"/>
                </a:cubicBezTo>
                <a:cubicBezTo>
                  <a:pt x="101" y="47"/>
                  <a:pt x="104" y="54"/>
                  <a:pt x="104" y="62"/>
                </a:cubicBezTo>
                <a:cubicBezTo>
                  <a:pt x="104" y="80"/>
                  <a:pt x="92" y="89"/>
                  <a:pt x="75" y="92"/>
                </a:cubicBezTo>
                <a:cubicBezTo>
                  <a:pt x="79" y="95"/>
                  <a:pt x="79" y="101"/>
                  <a:pt x="79" y="103"/>
                </a:cubicBezTo>
                <a:cubicBezTo>
                  <a:pt x="79" y="105"/>
                  <a:pt x="79" y="119"/>
                  <a:pt x="79" y="119"/>
                </a:cubicBezTo>
                <a:cubicBezTo>
                  <a:pt x="79" y="122"/>
                  <a:pt x="80" y="123"/>
                  <a:pt x="82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109" y="114"/>
                  <a:pt x="126" y="91"/>
                  <a:pt x="126" y="63"/>
                </a:cubicBezTo>
                <a:cubicBezTo>
                  <a:pt x="126" y="28"/>
                  <a:pt x="98" y="0"/>
                  <a:pt x="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pic>
        <p:nvPicPr>
          <p:cNvPr id="51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82481" y="4142966"/>
            <a:ext cx="967249" cy="96724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7" name="Text Placeholder 5">
            <a:hlinkClick r:id="rId4"/>
            <a:extLst>
              <a:ext uri="{FF2B5EF4-FFF2-40B4-BE49-F238E27FC236}">
                <a16:creationId xmlns:a16="http://schemas.microsoft.com/office/drawing/2014/main" id="{CBF9D387-EDE2-B4A4-41C0-01397EC21F2F}"/>
              </a:ext>
            </a:extLst>
          </p:cNvPr>
          <p:cNvSpPr>
            <a:spLocks noGrp="1"/>
          </p:cNvSpPr>
          <p:nvPr/>
        </p:nvSpPr>
        <p:spPr>
          <a:xfrm>
            <a:off x="8677728" y="2235662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dirty="0" err="1">
                <a:latin typeface="Segoe Print"/>
                <a:ea typeface="Segoe Print"/>
                <a:cs typeface="Segoe Print"/>
              </a:rPr>
              <a:t>marcoparenzan</a:t>
            </a:r>
            <a:endParaRPr dirty="0">
              <a:latin typeface="Segoe Print"/>
              <a:ea typeface="Segoe Print"/>
              <a:cs typeface="Segoe Print"/>
            </a:endParaRP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6DB9C5D6-EDD1-4233-7238-BC63871B3E49}"/>
              </a:ext>
            </a:extLst>
          </p:cNvPr>
          <p:cNvSpPr>
            <a:spLocks noGrp="1"/>
          </p:cNvSpPr>
          <p:nvPr/>
        </p:nvSpPr>
        <p:spPr>
          <a:xfrm>
            <a:off x="8677728" y="3354849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dirty="0" err="1">
                <a:latin typeface="Segoe Print"/>
                <a:ea typeface="Segoe Print"/>
                <a:cs typeface="Segoe Print"/>
                <a:hlinkClick r:id="rId5"/>
              </a:rPr>
              <a:t>marcoparenzan</a:t>
            </a:r>
            <a:endParaRPr dirty="0">
              <a:latin typeface="Segoe Print"/>
              <a:ea typeface="Segoe Print"/>
              <a:cs typeface="Segoe Print"/>
            </a:endParaRP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1EAFFF86-4B08-27C8-49F8-846D4401E6F0}"/>
              </a:ext>
            </a:extLst>
          </p:cNvPr>
          <p:cNvSpPr>
            <a:spLocks noGrp="1"/>
          </p:cNvSpPr>
          <p:nvPr/>
        </p:nvSpPr>
        <p:spPr>
          <a:xfrm>
            <a:off x="8677728" y="4427381"/>
            <a:ext cx="4010025" cy="8032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dirty="0" err="1">
                <a:latin typeface="Segoe Print"/>
                <a:ea typeface="Segoe Print"/>
                <a:cs typeface="Segoe Print"/>
                <a:hlinkClick r:id="rId6"/>
              </a:rPr>
              <a:t>marcoparenzan</a:t>
            </a:r>
            <a:endParaRPr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56" name="Picture 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96437" y="2163252"/>
            <a:ext cx="1584901" cy="635751"/>
          </a:xfrm>
          <a:prstGeom prst="rect">
            <a:avLst/>
          </a:prstGeom>
        </p:spPr>
      </p:pic>
      <p:pic>
        <p:nvPicPr>
          <p:cNvPr id="57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684042" y="2921461"/>
            <a:ext cx="1609691" cy="652084"/>
          </a:xfrm>
          <a:prstGeom prst="rect">
            <a:avLst/>
          </a:prstGeom>
        </p:spPr>
      </p:pic>
      <p:pic>
        <p:nvPicPr>
          <p:cNvPr id="58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042" y="3696004"/>
            <a:ext cx="1609691" cy="536564"/>
          </a:xfrm>
          <a:prstGeom prst="rect">
            <a:avLst/>
          </a:prstGeom>
        </p:spPr>
      </p:pic>
      <p:pic>
        <p:nvPicPr>
          <p:cNvPr id="62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1701" y="4427381"/>
            <a:ext cx="1098970" cy="1275141"/>
          </a:xfrm>
          <a:prstGeom prst="rect">
            <a:avLst/>
          </a:prstGeom>
        </p:spPr>
      </p:pic>
      <p:pic>
        <p:nvPicPr>
          <p:cNvPr id="63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8124349">
            <a:off x="7143128" y="3475867"/>
            <a:ext cx="609600" cy="914400"/>
          </a:xfrm>
          <a:prstGeom prst="rect">
            <a:avLst/>
          </a:prstGeom>
        </p:spPr>
      </p:pic>
      <p:pic>
        <p:nvPicPr>
          <p:cNvPr id="6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6659039">
            <a:off x="6883022" y="3886806"/>
            <a:ext cx="609600" cy="914400"/>
          </a:xfrm>
          <a:prstGeom prst="rect">
            <a:avLst/>
          </a:prstGeom>
        </p:spPr>
      </p:pic>
      <p:pic>
        <p:nvPicPr>
          <p:cNvPr id="65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4659396">
            <a:off x="6883022" y="4416589"/>
            <a:ext cx="609600" cy="914400"/>
          </a:xfrm>
          <a:prstGeom prst="rect">
            <a:avLst/>
          </a:prstGeom>
        </p:spPr>
      </p:pic>
      <p:pic>
        <p:nvPicPr>
          <p:cNvPr id="66" name="Picture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657831">
            <a:off x="7143714" y="4857933"/>
            <a:ext cx="609600" cy="914400"/>
          </a:xfrm>
          <a:prstGeom prst="rect">
            <a:avLst/>
          </a:prstGeom>
        </p:spPr>
      </p:pic>
      <p:pic>
        <p:nvPicPr>
          <p:cNvPr id="67" name="Picture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364" y="1754042"/>
            <a:ext cx="4094930" cy="4094930"/>
          </a:xfrm>
          <a:prstGeom prst="rect">
            <a:avLst/>
          </a:prstGeom>
        </p:spPr>
      </p:pic>
      <p:sp>
        <p:nvSpPr>
          <p:cNvPr id="14" name="TextBox 2">
            <a:extLst>
              <a:ext uri="{FF2B5EF4-FFF2-40B4-BE49-F238E27FC236}">
                <a16:creationId xmlns:a16="http://schemas.microsoft.com/office/drawing/2014/main" id="{EB4E7638-F1BD-4F0B-3409-0D4A3CB0227F}"/>
              </a:ext>
            </a:extLst>
          </p:cNvPr>
          <p:cNvSpPr>
            <a:spLocks noGrp="1"/>
          </p:cNvSpPr>
          <p:nvPr/>
        </p:nvSpPr>
        <p:spPr>
          <a:xfrm>
            <a:off x="561768" y="840864"/>
            <a:ext cx="11122232" cy="569387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3200" b="1" dirty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Sono Marco Parenzan</a:t>
            </a:r>
          </a:p>
        </p:txBody>
      </p:sp>
    </p:spTree>
    <p:extLst>
      <p:ext uri="{BB962C8B-B14F-4D97-AF65-F5344CB8AC3E}">
        <p14:creationId xmlns:p14="http://schemas.microsoft.com/office/powerpoint/2010/main" val="194848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88CBFB-BA53-F022-497C-6522DC8B8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18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136F-7CAC-97B5-AE71-A07024E2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Arial Rounded MT Bold" panose="020F0704030504030204" pitchFamily="34" charset="0"/>
              </a:rPr>
              <a:t>Alcuni spunti di riflessione</a:t>
            </a:r>
            <a:endParaRPr lang="it-IT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E1B30-50AC-81E5-EAB5-CB39559A2B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9800" y="1416831"/>
            <a:ext cx="10515600" cy="4024337"/>
          </a:xfrm>
        </p:spPr>
        <p:txBody>
          <a:bodyPr/>
          <a:lstStyle/>
          <a:p>
            <a:r>
              <a:rPr lang="it-IT" sz="2400" dirty="0">
                <a:latin typeface="Trebuchet MS" panose="020B0603020202020204" pitchFamily="34" charset="0"/>
              </a:rPr>
              <a:t>I modelli di GenAI sono addestrati con tutta la conoscenza accessibile</a:t>
            </a:r>
          </a:p>
          <a:p>
            <a:r>
              <a:rPr lang="it-IT" sz="2400" dirty="0">
                <a:latin typeface="Trebuchet MS" panose="020B0603020202020204" pitchFamily="34" charset="0"/>
              </a:rPr>
              <a:t>Da sviluppatori ad analisti</a:t>
            </a:r>
          </a:p>
          <a:p>
            <a:pPr lvl="1"/>
            <a:r>
              <a:rPr lang="it-IT" sz="2000" dirty="0">
                <a:latin typeface="Trebuchet MS" panose="020B0603020202020204" pitchFamily="34" charset="0"/>
              </a:rPr>
              <a:t>(real) attention...to details</a:t>
            </a:r>
          </a:p>
          <a:p>
            <a:r>
              <a:rPr lang="it-IT" sz="2400" dirty="0">
                <a:latin typeface="Trebuchet MS" panose="020B0603020202020204" pitchFamily="34" charset="0"/>
              </a:rPr>
              <a:t>La riservatezza: un problema nuovo? </a:t>
            </a:r>
          </a:p>
          <a:p>
            <a:pPr lvl="1"/>
            <a:r>
              <a:rPr lang="it-IT" sz="2000" dirty="0">
                <a:latin typeface="Trebuchet MS" panose="020B0603020202020204" pitchFamily="34" charset="0"/>
              </a:rPr>
              <a:t>Tanti casi che già viviamo (senza ai....senza?)</a:t>
            </a:r>
          </a:p>
          <a:p>
            <a:r>
              <a:rPr lang="it-IT" sz="2400" dirty="0">
                <a:latin typeface="Trebuchet MS" panose="020B0603020202020204" pitchFamily="34" charset="0"/>
              </a:rPr>
              <a:t>Copilot vs(?) Agent</a:t>
            </a:r>
          </a:p>
          <a:p>
            <a:endParaRPr lang="it-IT" sz="2400" dirty="0">
              <a:latin typeface="Trebuchet MS" panose="020B0603020202020204" pitchFamily="34" charset="0"/>
            </a:endParaRPr>
          </a:p>
          <a:p>
            <a:endParaRPr lang="it-IT" sz="2400" dirty="0">
              <a:latin typeface="Trebuchet MS" panose="020B0603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732030-F5EA-2DAC-58A7-DCE4D1C13ADC}"/>
              </a:ext>
            </a:extLst>
          </p:cNvPr>
          <p:cNvSpPr/>
          <p:nvPr/>
        </p:nvSpPr>
        <p:spPr>
          <a:xfrm>
            <a:off x="1968500" y="6337300"/>
            <a:ext cx="4826000" cy="520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920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07D5-6FE2-E055-4A59-CA4A6E90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Una moderna famiglia media italiana </a:t>
            </a:r>
            <a:br>
              <a:rPr lang="it-IT" dirty="0"/>
            </a:br>
            <a:r>
              <a:rPr lang="it-IT" dirty="0"/>
              <a:t>(4 persone)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487F8-89CE-B02B-B155-2DE2DC247E0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it-IT" dirty="0"/>
              <a:t>6 contratti telefonici (4 mobile+internet di casa+domotica)...</a:t>
            </a:r>
          </a:p>
          <a:p>
            <a:r>
              <a:rPr lang="it-IT" dirty="0"/>
              <a:t>4 contratti storage (per le foto e i documenti)...</a:t>
            </a:r>
          </a:p>
          <a:p>
            <a:r>
              <a:rPr lang="it-IT" dirty="0"/>
              <a:t>3 abbonamenti streaming (2+prime)...</a:t>
            </a:r>
          </a:p>
          <a:p>
            <a:r>
              <a:rPr lang="it-IT" dirty="0"/>
              <a:t>1 spotify family...</a:t>
            </a:r>
          </a:p>
          <a:p>
            <a:r>
              <a:rPr lang="it-IT" dirty="0"/>
              <a:t>...4 account AI (e i nerd ne hanno più di 1)</a:t>
            </a:r>
          </a:p>
          <a:p>
            <a:pPr marL="0" indent="0">
              <a:buNone/>
            </a:pPr>
            <a:r>
              <a:rPr lang="it-IT"/>
              <a:t>Quindi quando valutate i costi dell’AI, pensate un attimo a voi </a:t>
            </a:r>
            <a:r>
              <a:rPr lang="it-IT">
                <a:sym typeface="Wingdings" panose="05000000000000000000" pitchFamily="2" charset="2"/>
              </a:rPr>
              <a:t>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19A708-C9BC-021B-BDF8-508DA8C37102}"/>
              </a:ext>
            </a:extLst>
          </p:cNvPr>
          <p:cNvSpPr/>
          <p:nvPr/>
        </p:nvSpPr>
        <p:spPr>
          <a:xfrm>
            <a:off x="1968500" y="6337300"/>
            <a:ext cx="4826000" cy="520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41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ED117-72DA-39A5-277D-57764DD4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7AA94D-A619-8E81-06C7-5B43426FD6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0757A6"/>
          </a:solidFill>
          <a:ln w="0">
            <a:noFill/>
            <a:prstDash val="solid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409305-B15B-837A-EEF5-8D634F494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205526"/>
            <a:ext cx="5048250" cy="2542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835C50-A82E-C867-7C37-8F4AB04B2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0669" y="495300"/>
            <a:ext cx="998012" cy="10477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20698A-064A-E70F-833A-1E95AC0E7F6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857500" cy="3619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PRESENTAZIONE FUNZIONALE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0A64C-3C89-4E7D-E3E3-925815B9ADDA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5905500" cy="1600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41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125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Intelligenza</a:t>
            </a:r>
            <a:r>
              <a:rPr sz="4125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4125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artificiale</a:t>
            </a:r>
            <a:endParaRPr sz="4125" b="1" dirty="0">
              <a:solidFill>
                <a:srgbClr val="0E1726"/>
              </a:solidFill>
              <a:latin typeface="Arial Rounded MT Bold"/>
              <a:ea typeface="Arial Rounded MT Bold"/>
              <a:cs typeface="Arial Rounded MT Bold"/>
            </a:endParaRPr>
          </a:p>
          <a:p>
            <a:pPr algn="l">
              <a:lnSpc>
                <a:spcPct val="95000"/>
              </a:lnSpc>
              <a:buNone/>
              <a:defRPr sz="41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125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nei</a:t>
            </a:r>
            <a:r>
              <a:rPr sz="4125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4125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servizi</a:t>
            </a:r>
            <a:r>
              <a:rPr sz="4125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4125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comunali</a:t>
            </a:r>
            <a:endParaRPr sz="4125" b="1" dirty="0">
              <a:solidFill>
                <a:srgbClr val="0E1726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868220-6EED-19A2-0D7C-9F5E1F22500F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950" b="1">
                <a:solidFill>
                  <a:srgbClr val="0757A6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 dirty="0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Dalla demo per il </a:t>
            </a:r>
            <a:r>
              <a:rPr sz="1950" b="1" dirty="0" err="1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cittadino</a:t>
            </a:r>
            <a:r>
              <a:rPr sz="1950" b="1" dirty="0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 ai workflow con Copilot Studio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670D3D-23A7-E9D8-014F-833053E958E7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5619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Villa di Naon è un Comune completamente fittizio creato per finalità dimostrative.</a:t>
            </a:r>
          </a:p>
        </p:txBody>
      </p:sp>
    </p:spTree>
    <p:extLst>
      <p:ext uri="{BB962C8B-B14F-4D97-AF65-F5344CB8AC3E}">
        <p14:creationId xmlns:p14="http://schemas.microsoft.com/office/powerpoint/2010/main" val="123224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240876D-3EE8-4D17-85D4-77B3A5AB8FA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La demo è stata costruita anche con la GenAI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B0EBE-B1DC-4B38-997E-EA257AC4924D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Un secondo livello della sperimentazione: servizi e processo di realizzazione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9BC5F4-73AB-4C53-A942-A185E2D59C77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8BAC30-3542-40FE-9CFE-DB44C7AE1D3D}"/>
              </a:ext>
            </a:extLst>
          </p:cNvPr>
          <p:cNvSpPr>
            <a:spLocks noGrp="1"/>
          </p:cNvSpPr>
          <p:nvPr/>
        </p:nvSpPr>
        <p:spPr>
          <a:xfrm>
            <a:off x="4762500" y="2333625"/>
            <a:ext cx="2667000" cy="161925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203FBD-0BB4-424C-AB40-3F439CECE9B6}"/>
              </a:ext>
            </a:extLst>
          </p:cNvPr>
          <p:cNvSpPr>
            <a:spLocks noGrp="1"/>
          </p:cNvSpPr>
          <p:nvPr/>
        </p:nvSpPr>
        <p:spPr>
          <a:xfrm>
            <a:off x="5095875" y="2686050"/>
            <a:ext cx="2000250" cy="933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Idea umana</a:t>
            </a:r>
          </a:p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Vincoli chiari</a:t>
            </a:r>
          </a:p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Revisione continua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8EAA6E-8F3D-458D-977E-0874E56AC355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2667000" cy="1047750"/>
          </a:xfrm>
          <a:prstGeom prst="roundRect">
            <a:avLst>
              <a:gd name="adj" fmla="val 18182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242EF-604C-4AD3-B8F4-88971C2EE2E7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22288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Codice e interfaccia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E223BF-AA75-4246-B71A-897F22D9F481}"/>
              </a:ext>
            </a:extLst>
          </p:cNvPr>
          <p:cNvSpPr>
            <a:spLocks noGrp="1"/>
          </p:cNvSpPr>
          <p:nvPr/>
        </p:nvSpPr>
        <p:spPr>
          <a:xfrm>
            <a:off x="8620125" y="1905000"/>
            <a:ext cx="2667000" cy="1047750"/>
          </a:xfrm>
          <a:prstGeom prst="roundRect">
            <a:avLst>
              <a:gd name="adj" fmla="val 18182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D5019-37FD-45E5-BD83-C2B279BD4E4E}"/>
              </a:ext>
            </a:extLst>
          </p:cNvPr>
          <p:cNvSpPr>
            <a:spLocks noGrp="1"/>
          </p:cNvSpPr>
          <p:nvPr/>
        </p:nvSpPr>
        <p:spPr>
          <a:xfrm>
            <a:off x="8839200" y="2171700"/>
            <a:ext cx="22288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Testi e documentazione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C13471-699F-4C4D-8209-A378A3875FAD}"/>
              </a:ext>
            </a:extLst>
          </p:cNvPr>
          <p:cNvSpPr>
            <a:spLocks noGrp="1"/>
          </p:cNvSpPr>
          <p:nvPr/>
        </p:nvSpPr>
        <p:spPr>
          <a:xfrm>
            <a:off x="904875" y="4095750"/>
            <a:ext cx="2667000" cy="10477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68DF11-6E04-4960-BA8C-A8EC02D921F8}"/>
              </a:ext>
            </a:extLst>
          </p:cNvPr>
          <p:cNvSpPr>
            <a:spLocks noGrp="1"/>
          </p:cNvSpPr>
          <p:nvPr/>
        </p:nvSpPr>
        <p:spPr>
          <a:xfrm>
            <a:off x="1123950" y="4457700"/>
            <a:ext cx="22288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Immagini e personaggi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F1A65B-0D5C-40FA-BB16-440191F954F6}"/>
              </a:ext>
            </a:extLst>
          </p:cNvPr>
          <p:cNvSpPr>
            <a:spLocks noGrp="1"/>
          </p:cNvSpPr>
          <p:nvPr/>
        </p:nvSpPr>
        <p:spPr>
          <a:xfrm>
            <a:off x="8620125" y="4095750"/>
            <a:ext cx="2667000" cy="10477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427A9A-FE8E-4989-A65B-843F55874312}"/>
              </a:ext>
            </a:extLst>
          </p:cNvPr>
          <p:cNvSpPr>
            <a:spLocks noGrp="1"/>
          </p:cNvSpPr>
          <p:nvPr/>
        </p:nvSpPr>
        <p:spPr>
          <a:xfrm>
            <a:off x="8839200" y="4457700"/>
            <a:ext cx="22288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7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Verifiche e correzioni</a:t>
            </a:r>
          </a:p>
        </p:txBody>
      </p:sp>
      <p:cxnSp>
        <p:nvCxnSpPr>
          <p:cNvPr id="34" name="Straight Arrow Connector 33"/>
          <p:cNvCxnSpPr>
            <a:stCxn id="6" idx="3"/>
            <a:endCxn id="4" idx="1"/>
          </p:cNvCxnSpPr>
          <p:nvPr/>
        </p:nvCxnSpPr>
        <p:spPr>
          <a:xfrm>
            <a:off x="3571875" y="2428875"/>
            <a:ext cx="1190625" cy="714375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35" name="Straight Arrow Connector 34"/>
          <p:cNvCxnSpPr>
            <a:stCxn id="4" idx="3"/>
            <a:endCxn id="8" idx="1"/>
          </p:cNvCxnSpPr>
          <p:nvPr/>
        </p:nvCxnSpPr>
        <p:spPr>
          <a:xfrm flipV="1">
            <a:off x="7429500" y="2428875"/>
            <a:ext cx="1190625" cy="714375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36" name="Straight Arrow Connector 35"/>
          <p:cNvCxnSpPr>
            <a:stCxn id="10" idx="3"/>
            <a:endCxn id="4" idx="1"/>
          </p:cNvCxnSpPr>
          <p:nvPr/>
        </p:nvCxnSpPr>
        <p:spPr>
          <a:xfrm flipV="1">
            <a:off x="3571875" y="3143250"/>
            <a:ext cx="1190625" cy="1476375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37" name="Straight Arrow Connector 36"/>
          <p:cNvCxnSpPr>
            <a:stCxn id="4" idx="3"/>
            <a:endCxn id="12" idx="1"/>
          </p:cNvCxnSpPr>
          <p:nvPr/>
        </p:nvCxnSpPr>
        <p:spPr>
          <a:xfrm>
            <a:off x="7429500" y="3143250"/>
            <a:ext cx="1190625" cy="1476375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E944CFD-BEFE-4520-A511-7976078C19F2}"/>
              </a:ext>
            </a:extLst>
          </p:cNvPr>
          <p:cNvSpPr>
            <a:spLocks noGrp="1"/>
          </p:cNvSpPr>
          <p:nvPr/>
        </p:nvSpPr>
        <p:spPr>
          <a:xfrm>
            <a:off x="1762125" y="5619750"/>
            <a:ext cx="86677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La GenAI accelera la prima versione. Obiettivi, approvazioni e responsabilità restano umani.</a:t>
            </a:r>
          </a:p>
        </p:txBody>
      </p:sp>
    </p:spTree>
    <p:extLst>
      <p:ext uri="{BB962C8B-B14F-4D97-AF65-F5344CB8AC3E}">
        <p14:creationId xmlns:p14="http://schemas.microsoft.com/office/powerpoint/2010/main" val="18639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5EE7DFF-6A8B-416A-B1B8-5C99BC3C660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Cosa </a:t>
            </a:r>
            <a:r>
              <a:rPr sz="3150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accade</a:t>
            </a:r>
            <a:r>
              <a:rPr sz="3150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150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dietro</a:t>
            </a:r>
            <a:r>
              <a:rPr sz="3150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150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una</a:t>
            </a:r>
            <a:r>
              <a:rPr sz="3150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150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risposta</a:t>
            </a:r>
            <a:r>
              <a:rPr sz="3150" b="1" dirty="0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12D07-9F68-43CE-854A-B08E947BD8F4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Una lettura tecnica, senza entrare nel codice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80ED57-28A2-48EC-B8E3-A6BF760EFFF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C97303-98CA-49ED-9CEA-4573B33F7274}"/>
              </a:ext>
            </a:extLst>
          </p:cNvPr>
          <p:cNvSpPr>
            <a:spLocks noGrp="1"/>
          </p:cNvSpPr>
          <p:nvPr/>
        </p:nvSpPr>
        <p:spPr>
          <a:xfrm>
            <a:off x="514350" y="2190750"/>
            <a:ext cx="1952625" cy="1714500"/>
          </a:xfrm>
          <a:prstGeom prst="roundRect">
            <a:avLst>
              <a:gd name="adj" fmla="val 12222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DB091-2977-4A32-8AAC-164971C413CA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AA4424-C198-48EF-B774-B18B780F42D6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 dirty="0" err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Richiesta</a:t>
            </a:r>
            <a:endParaRPr sz="1800" b="1" dirty="0">
              <a:solidFill>
                <a:srgbClr val="0E1726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A26DF-BAFB-46B7-AB2F-1E5C5F05950F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5811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testo, voce o foto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AC45B4-426B-4F34-99E9-6B8F026CD3CB}"/>
              </a:ext>
            </a:extLst>
          </p:cNvPr>
          <p:cNvSpPr>
            <a:spLocks noGrp="1"/>
          </p:cNvSpPr>
          <p:nvPr/>
        </p:nvSpPr>
        <p:spPr>
          <a:xfrm>
            <a:off x="2857500" y="2190750"/>
            <a:ext cx="1952625" cy="171450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6895C8-4CBB-4E9C-A1F8-EE5A55D9B22A}"/>
              </a:ext>
            </a:extLst>
          </p:cNvPr>
          <p:cNvSpPr>
            <a:spLocks noGrp="1"/>
          </p:cNvSpPr>
          <p:nvPr/>
        </p:nvSpPr>
        <p:spPr>
          <a:xfrm>
            <a:off x="3048000" y="23431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66E6FE-E320-40EC-8C88-4DE2F60F6905}"/>
              </a:ext>
            </a:extLst>
          </p:cNvPr>
          <p:cNvSpPr>
            <a:spLocks noGrp="1"/>
          </p:cNvSpPr>
          <p:nvPr/>
        </p:nvSpPr>
        <p:spPr>
          <a:xfrm>
            <a:off x="3067050" y="2895600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Contesto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654D9C-58D3-4665-A561-421A91EAD846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15811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servizi e regole della demo</a:t>
            </a:r>
          </a:p>
        </p:txBody>
      </p:sp>
      <p:cxnSp>
        <p:nvCxnSpPr>
          <p:cNvPr id="43" name="Straight Arrow Connector 42"/>
          <p:cNvCxnSpPr>
            <a:stCxn id="4" idx="3"/>
            <a:endCxn id="8" idx="1"/>
          </p:cNvCxnSpPr>
          <p:nvPr/>
        </p:nvCxnSpPr>
        <p:spPr>
          <a:xfrm>
            <a:off x="2466975" y="3048000"/>
            <a:ext cx="39052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CCC78-E80C-4854-8765-BA1A9FEFE5FC}"/>
              </a:ext>
            </a:extLst>
          </p:cNvPr>
          <p:cNvSpPr>
            <a:spLocks noGrp="1"/>
          </p:cNvSpPr>
          <p:nvPr/>
        </p:nvSpPr>
        <p:spPr>
          <a:xfrm>
            <a:off x="5200650" y="2190750"/>
            <a:ext cx="1952625" cy="1714500"/>
          </a:xfrm>
          <a:prstGeom prst="roundRect">
            <a:avLst>
              <a:gd name="adj" fmla="val 12222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04C8C4-D1DF-4C40-B54A-5D536A160CFC}"/>
              </a:ext>
            </a:extLst>
          </p:cNvPr>
          <p:cNvSpPr>
            <a:spLocks noGrp="1"/>
          </p:cNvSpPr>
          <p:nvPr/>
        </p:nvSpPr>
        <p:spPr>
          <a:xfrm>
            <a:off x="5391150" y="23431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3D5033-81BB-44BA-BADE-6D4841566086}"/>
              </a:ext>
            </a:extLst>
          </p:cNvPr>
          <p:cNvSpPr>
            <a:spLocks noGrp="1"/>
          </p:cNvSpPr>
          <p:nvPr/>
        </p:nvSpPr>
        <p:spPr>
          <a:xfrm>
            <a:off x="5410200" y="2895600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Modello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71C150-EE59-415E-94D0-1739B97B132F}"/>
              </a:ext>
            </a:extLst>
          </p:cNvPr>
          <p:cNvSpPr>
            <a:spLocks noGrp="1"/>
          </p:cNvSpPr>
          <p:nvPr/>
        </p:nvSpPr>
        <p:spPr>
          <a:xfrm>
            <a:off x="5391150" y="3333750"/>
            <a:ext cx="15811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comprende e genera</a:t>
            </a:r>
          </a:p>
        </p:txBody>
      </p:sp>
      <p:cxnSp>
        <p:nvCxnSpPr>
          <p:cNvPr id="48" name="Straight Arrow Connector 47"/>
          <p:cNvCxnSpPr>
            <a:stCxn id="8" idx="3"/>
            <a:endCxn id="13" idx="1"/>
          </p:cNvCxnSpPr>
          <p:nvPr/>
        </p:nvCxnSpPr>
        <p:spPr>
          <a:xfrm>
            <a:off x="4810125" y="3048000"/>
            <a:ext cx="39052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3058B2A-04F7-4859-B363-E884600E64DE}"/>
              </a:ext>
            </a:extLst>
          </p:cNvPr>
          <p:cNvSpPr>
            <a:spLocks noGrp="1"/>
          </p:cNvSpPr>
          <p:nvPr/>
        </p:nvSpPr>
        <p:spPr>
          <a:xfrm>
            <a:off x="7543800" y="2190750"/>
            <a:ext cx="1952625" cy="171450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8C92F7-2791-4139-B258-B69D1D20CD1E}"/>
              </a:ext>
            </a:extLst>
          </p:cNvPr>
          <p:cNvSpPr>
            <a:spLocks noGrp="1"/>
          </p:cNvSpPr>
          <p:nvPr/>
        </p:nvSpPr>
        <p:spPr>
          <a:xfrm>
            <a:off x="7734300" y="23431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A68DD5-3FE3-4988-9D27-898213AA8F5B}"/>
              </a:ext>
            </a:extLst>
          </p:cNvPr>
          <p:cNvSpPr>
            <a:spLocks noGrp="1"/>
          </p:cNvSpPr>
          <p:nvPr/>
        </p:nvSpPr>
        <p:spPr>
          <a:xfrm>
            <a:off x="7753350" y="2895600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1831D6-F7E2-4AB8-ABE8-C9676325B9AA}"/>
              </a:ext>
            </a:extLst>
          </p:cNvPr>
          <p:cNvSpPr>
            <a:spLocks noGrp="1"/>
          </p:cNvSpPr>
          <p:nvPr/>
        </p:nvSpPr>
        <p:spPr>
          <a:xfrm>
            <a:off x="7734300" y="3333750"/>
            <a:ext cx="15811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testo o dati strutturati</a:t>
            </a:r>
          </a:p>
        </p:txBody>
      </p:sp>
      <p:cxnSp>
        <p:nvCxnSpPr>
          <p:cNvPr id="53" name="Straight Arrow Connector 52"/>
          <p:cNvCxnSpPr>
            <a:stCxn id="13" idx="3"/>
            <a:endCxn id="18" idx="1"/>
          </p:cNvCxnSpPr>
          <p:nvPr/>
        </p:nvCxnSpPr>
        <p:spPr>
          <a:xfrm>
            <a:off x="7153275" y="3048000"/>
            <a:ext cx="39052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BDF068-9595-412E-B03D-292EFE695B70}"/>
              </a:ext>
            </a:extLst>
          </p:cNvPr>
          <p:cNvSpPr>
            <a:spLocks noGrp="1"/>
          </p:cNvSpPr>
          <p:nvPr/>
        </p:nvSpPr>
        <p:spPr>
          <a:xfrm>
            <a:off x="9886950" y="2190750"/>
            <a:ext cx="1952625" cy="1714500"/>
          </a:xfrm>
          <a:prstGeom prst="roundRect">
            <a:avLst>
              <a:gd name="adj" fmla="val 12222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A7DB38-11B2-474B-A440-752AD56AF53B}"/>
              </a:ext>
            </a:extLst>
          </p:cNvPr>
          <p:cNvSpPr>
            <a:spLocks noGrp="1"/>
          </p:cNvSpPr>
          <p:nvPr/>
        </p:nvSpPr>
        <p:spPr>
          <a:xfrm>
            <a:off x="10077450" y="23431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CE9DA3-8826-46E2-818B-4405A956D90F}"/>
              </a:ext>
            </a:extLst>
          </p:cNvPr>
          <p:cNvSpPr>
            <a:spLocks noGrp="1"/>
          </p:cNvSpPr>
          <p:nvPr/>
        </p:nvSpPr>
        <p:spPr>
          <a:xfrm>
            <a:off x="10096500" y="2895600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Controllo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7DA66B-6853-4890-AF67-B6B80FB47CF7}"/>
              </a:ext>
            </a:extLst>
          </p:cNvPr>
          <p:cNvSpPr>
            <a:spLocks noGrp="1"/>
          </p:cNvSpPr>
          <p:nvPr/>
        </p:nvSpPr>
        <p:spPr>
          <a:xfrm>
            <a:off x="10077450" y="3333750"/>
            <a:ext cx="15811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utente e verifiche software</a:t>
            </a:r>
          </a:p>
        </p:txBody>
      </p:sp>
      <p:cxnSp>
        <p:nvCxnSpPr>
          <p:cNvPr id="58" name="Straight Arrow Connector 57"/>
          <p:cNvCxnSpPr>
            <a:stCxn id="18" idx="3"/>
            <a:endCxn id="23" idx="1"/>
          </p:cNvCxnSpPr>
          <p:nvPr/>
        </p:nvCxnSpPr>
        <p:spPr>
          <a:xfrm>
            <a:off x="9496425" y="3048000"/>
            <a:ext cx="39052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ADA1B56-BE63-4A11-8593-31A6D90F0CB4}"/>
              </a:ext>
            </a:extLst>
          </p:cNvPr>
          <p:cNvSpPr>
            <a:spLocks noGrp="1"/>
          </p:cNvSpPr>
          <p:nvPr/>
        </p:nvSpPr>
        <p:spPr>
          <a:xfrm>
            <a:off x="1524000" y="4762500"/>
            <a:ext cx="9144000" cy="666750"/>
          </a:xfrm>
          <a:prstGeom prst="roundRect">
            <a:avLst>
              <a:gd name="adj" fmla="val 25714"/>
            </a:avLst>
          </a:prstGeom>
          <a:solidFill>
            <a:srgbClr val="F3EBDD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Il modello è probabilistico. Per numeri, importi e stati si aggiungono controlli riproducibili.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D7E8-43D2-4DB4-9F59-0A777C868D78}"/>
              </a:ext>
            </a:extLst>
          </p:cNvPr>
          <p:cNvSpPr>
            <a:spLocks noGrp="1"/>
          </p:cNvSpPr>
          <p:nvPr/>
        </p:nvSpPr>
        <p:spPr>
          <a:xfrm>
            <a:off x="1809750" y="56197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Esempio: sui consumi idrici il software ricalcola i differenziali e segnala eventuali discrepanze.</a:t>
            </a:r>
          </a:p>
        </p:txBody>
      </p:sp>
    </p:spTree>
    <p:extLst>
      <p:ext uri="{BB962C8B-B14F-4D97-AF65-F5344CB8AC3E}">
        <p14:creationId xmlns:p14="http://schemas.microsoft.com/office/powerpoint/2010/main" val="57371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DB6D818-4933-49F1-8A1D-EB8CC56E17E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Responsabilità e limiti della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88C9ED-79F3-4BE7-82E7-192A83A09C75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La fiducia nasce da confini comprensibili e verificabili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99B0EC-4E61-42DB-9DD1-29355EE134D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4D58E7-7ED8-4098-97A4-036D867B054C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10668000" cy="647700"/>
          </a:xfrm>
          <a:prstGeom prst="roundRect">
            <a:avLst>
              <a:gd name="adj" fmla="val 20588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A1D46-9E17-4EE9-B628-B14346AF0A0F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Dati personali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0CEE9-D3B3-4403-A081-2035FAEA7E27}"/>
              </a:ext>
            </a:extLst>
          </p:cNvPr>
          <p:cNvSpPr>
            <a:spLocks noGrp="1"/>
          </p:cNvSpPr>
          <p:nvPr/>
        </p:nvSpPr>
        <p:spPr>
          <a:xfrm>
            <a:off x="4095750" y="2019300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Solo identità e recapiti sintetici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0ACC20-3A92-41D5-9619-7072B053EE70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106680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5F8DA-5545-45EB-85A0-260B1AE34DEC}"/>
              </a:ext>
            </a:extLst>
          </p:cNvPr>
          <p:cNvSpPr>
            <a:spLocks noGrp="1"/>
          </p:cNvSpPr>
          <p:nvPr/>
        </p:nvSpPr>
        <p:spPr>
          <a:xfrm>
            <a:off x="1028700" y="28384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Decisioni amministrative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0418B5-A1A3-4686-A626-CF4E5DE3BC06}"/>
              </a:ext>
            </a:extLst>
          </p:cNvPr>
          <p:cNvSpPr>
            <a:spLocks noGrp="1"/>
          </p:cNvSpPr>
          <p:nvPr/>
        </p:nvSpPr>
        <p:spPr>
          <a:xfrm>
            <a:off x="4095750" y="2838450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Nessuna approvazione o rigetto automatico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078540-716D-4624-B78D-B3F3F73F87E0}"/>
              </a:ext>
            </a:extLst>
          </p:cNvPr>
          <p:cNvSpPr>
            <a:spLocks noGrp="1"/>
          </p:cNvSpPr>
          <p:nvPr/>
        </p:nvSpPr>
        <p:spPr>
          <a:xfrm>
            <a:off x="762000" y="3495675"/>
            <a:ext cx="10668000" cy="647700"/>
          </a:xfrm>
          <a:prstGeom prst="roundRect">
            <a:avLst>
              <a:gd name="adj" fmla="val 20588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165742-19C2-4B1A-BEC2-D892524EC91B}"/>
              </a:ext>
            </a:extLst>
          </p:cNvPr>
          <p:cNvSpPr>
            <a:spLocks noGrp="1"/>
          </p:cNvSpPr>
          <p:nvPr/>
        </p:nvSpPr>
        <p:spPr>
          <a:xfrm>
            <a:off x="1028700" y="36576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Immagini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A0FE21-3E18-4AFB-B067-FE9864BA099F}"/>
              </a:ext>
            </a:extLst>
          </p:cNvPr>
          <p:cNvSpPr>
            <a:spLocks noGrp="1"/>
          </p:cNvSpPr>
          <p:nvPr/>
        </p:nvSpPr>
        <p:spPr>
          <a:xfrm>
            <a:off x="4095750" y="3657600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Proposte da confermare, senza deduzioni sull'identità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D28E2E-BB4C-469B-ABAA-E348A1917274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106680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5CF9CE-C05C-4273-8457-0E6C46992820}"/>
              </a:ext>
            </a:extLst>
          </p:cNvPr>
          <p:cNvSpPr>
            <a:spLocks noGrp="1"/>
          </p:cNvSpPr>
          <p:nvPr/>
        </p:nvSpPr>
        <p:spPr>
          <a:xfrm>
            <a:off x="1028700" y="44767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Numeri e importi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5E68C5-40C6-4662-9BB0-39D328F350A5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Calcoli controllati dal software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25BA18-0319-4E53-9C19-47CCD33F8C96}"/>
              </a:ext>
            </a:extLst>
          </p:cNvPr>
          <p:cNvSpPr>
            <a:spLocks noGrp="1"/>
          </p:cNvSpPr>
          <p:nvPr/>
        </p:nvSpPr>
        <p:spPr>
          <a:xfrm>
            <a:off x="762000" y="5133975"/>
            <a:ext cx="10668000" cy="647700"/>
          </a:xfrm>
          <a:prstGeom prst="roundRect">
            <a:avLst>
              <a:gd name="adj" fmla="val 20588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F328C0-975A-4659-9342-30AE2CB79204}"/>
              </a:ext>
            </a:extLst>
          </p:cNvPr>
          <p:cNvSpPr>
            <a:spLocks noGrp="1"/>
          </p:cNvSpPr>
          <p:nvPr/>
        </p:nvSpPr>
        <p:spPr>
          <a:xfrm>
            <a:off x="1028700" y="52959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Canali esterni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453E27-2714-4EA1-8E20-31C5DBDAAE10}"/>
              </a:ext>
            </a:extLst>
          </p:cNvPr>
          <p:cNvSpPr>
            <a:spLocks noGrp="1"/>
          </p:cNvSpPr>
          <p:nvPr/>
        </p:nvSpPr>
        <p:spPr>
          <a:xfrm>
            <a:off x="4095750" y="5295900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Predisposti, ma non attivati senza consenso e provider</a:t>
            </a:r>
          </a:p>
        </p:txBody>
      </p:sp>
    </p:spTree>
    <p:extLst>
      <p:ext uri="{BB962C8B-B14F-4D97-AF65-F5344CB8AC3E}">
        <p14:creationId xmlns:p14="http://schemas.microsoft.com/office/powerpoint/2010/main" val="1684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A990BDD-3CFE-432B-A887-0EF243276CF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Il problema prima della tecnologia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A4D8A1-31D2-482C-BB57-0D32F454423B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La complessità nasce spesso prima che la pratica arrivi all'ufficio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CD5088-7821-4FFE-BDAE-3211CDC9D65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B7706-ECEA-465A-8252-FF68E333DA54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Per il cittadino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0B70F-8E6C-49D6-90B9-ABFAED9A991A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40005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Trovare il servizio giusto</a:t>
            </a:r>
          </a:p>
          <a:p>
            <a:pPr algn="l">
              <a:lnSpc>
                <a:spcPct val="125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Capire quali dati preparare</a:t>
            </a:r>
          </a:p>
          <a:p>
            <a:pPr algn="l">
              <a:lnSpc>
                <a:spcPct val="125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Compilare moduli sul telefono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ED0908-8431-4044-B1DD-02F97F55392A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238F4C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>
                <a:solidFill>
                  <a:srgbClr val="238F4C"/>
                </a:solidFill>
                <a:latin typeface="Arial Rounded MT Bold"/>
                <a:ea typeface="Arial Rounded MT Bold"/>
                <a:cs typeface="Arial Rounded MT Bold"/>
              </a:rPr>
              <a:t>Per l'ufficio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BCA17-8448-4E63-A056-180F50F4C3DA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40005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Richieste incomplete</a:t>
            </a:r>
          </a:p>
          <a:p>
            <a:pPr algn="l">
              <a:lnSpc>
                <a:spcPct val="125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Email da ricopiare</a:t>
            </a:r>
          </a:p>
          <a:p>
            <a:pPr algn="l">
              <a:lnSpc>
                <a:spcPct val="125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Domande indirizzate male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A6B877-925A-41E7-88BA-6760B9C30A39}"/>
              </a:ext>
            </a:extLst>
          </p:cNvPr>
          <p:cNvSpPr>
            <a:spLocks noGrp="1"/>
          </p:cNvSpPr>
          <p:nvPr/>
        </p:nvSpPr>
        <p:spPr>
          <a:xfrm>
            <a:off x="5286375" y="1905000"/>
            <a:ext cx="47625" cy="2952750"/>
          </a:xfrm>
          <a:prstGeom prst="rect">
            <a:avLst/>
          </a:prstGeom>
          <a:solidFill>
            <a:srgbClr val="0E172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8205DA-3C91-4A2B-AB6D-3B2F2E0A2BC0}"/>
              </a:ext>
            </a:extLst>
          </p:cNvPr>
          <p:cNvSpPr>
            <a:spLocks noGrp="1"/>
          </p:cNvSpPr>
          <p:nvPr/>
        </p:nvSpPr>
        <p:spPr>
          <a:xfrm>
            <a:off x="1428750" y="4914900"/>
            <a:ext cx="9334500" cy="781050"/>
          </a:xfrm>
          <a:prstGeom prst="roundRect">
            <a:avLst>
              <a:gd name="adj" fmla="val 21951"/>
            </a:avLst>
          </a:prstGeom>
          <a:solidFill>
            <a:srgbClr val="FFD43B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La GenAI può aiutare a capire e preparare. La responsabilità amministrativa resta alle persone.</a:t>
            </a:r>
          </a:p>
        </p:txBody>
      </p:sp>
    </p:spTree>
    <p:extLst>
      <p:ext uri="{BB962C8B-B14F-4D97-AF65-F5344CB8AC3E}">
        <p14:creationId xmlns:p14="http://schemas.microsoft.com/office/powerpoint/2010/main" val="1329588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204C5D-45E7-4B3F-8A84-4B6CD296E2B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3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Il percorso della presentazione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DC12F2-46A5-4D90-9287-57E83A226523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4667250" cy="342900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45AF9EB-59D9-414F-B2A8-3348249179DA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667250" cy="3429000"/>
          </a:xfrm>
          <a:prstGeom prst="roundRect">
            <a:avLst>
              <a:gd name="adj" fmla="val 7222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39ED8-B6F1-48F5-A05E-CA704D59B926}"/>
              </a:ext>
            </a:extLst>
          </p:cNvPr>
          <p:cNvSpPr>
            <a:spLocks noGrp="1"/>
          </p:cNvSpPr>
          <p:nvPr/>
        </p:nvSpPr>
        <p:spPr>
          <a:xfrm>
            <a:off x="1162050" y="1962150"/>
            <a:ext cx="762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43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3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DD4C9-3999-49FB-B8E8-B495523D4054}"/>
              </a:ext>
            </a:extLst>
          </p:cNvPr>
          <p:cNvSpPr>
            <a:spLocks noGrp="1"/>
          </p:cNvSpPr>
          <p:nvPr/>
        </p:nvSpPr>
        <p:spPr>
          <a:xfrm>
            <a:off x="2019300" y="20383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Applicazione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73959-2F5F-4892-83C4-47D766D37D14}"/>
              </a:ext>
            </a:extLst>
          </p:cNvPr>
          <p:cNvSpPr>
            <a:spLocks noGrp="1"/>
          </p:cNvSpPr>
          <p:nvPr/>
        </p:nvSpPr>
        <p:spPr>
          <a:xfrm>
            <a:off x="1238250" y="2952750"/>
            <a:ext cx="352425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Servizi digitali</a:t>
            </a:r>
          </a:p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Chat con Ralf</a:t>
            </a:r>
          </a:p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Voce e immagini</a:t>
            </a:r>
          </a:p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Controlli umani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22893-C9DC-42B6-BDD4-48B7E7E45F0E}"/>
              </a:ext>
            </a:extLst>
          </p:cNvPr>
          <p:cNvSpPr>
            <a:spLocks noGrp="1"/>
          </p:cNvSpPr>
          <p:nvPr/>
        </p:nvSpPr>
        <p:spPr>
          <a:xfrm>
            <a:off x="6972300" y="1962150"/>
            <a:ext cx="762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43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3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07F25-A43F-4C48-8A1B-4B4B36A968E8}"/>
              </a:ext>
            </a:extLst>
          </p:cNvPr>
          <p:cNvSpPr>
            <a:spLocks noGrp="1"/>
          </p:cNvSpPr>
          <p:nvPr/>
        </p:nvSpPr>
        <p:spPr>
          <a:xfrm>
            <a:off x="7829550" y="2038350"/>
            <a:ext cx="30003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Copilot Studio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ADA265-01CE-422B-84E9-561895CA0DF7}"/>
              </a:ext>
            </a:extLst>
          </p:cNvPr>
          <p:cNvSpPr>
            <a:spLocks noGrp="1"/>
          </p:cNvSpPr>
          <p:nvPr/>
        </p:nvSpPr>
        <p:spPr>
          <a:xfrm>
            <a:off x="7048500" y="2952750"/>
            <a:ext cx="371475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Agente di back office</a:t>
            </a:r>
          </a:p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Classificazione</a:t>
            </a:r>
          </a:p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Workflow e azioni</a:t>
            </a:r>
          </a:p>
          <a:p>
            <a:pPr algn="l">
              <a:lnSpc>
                <a:spcPct val="124000"/>
              </a:lnSpc>
              <a:buNone/>
              <a:def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Tracciabilità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D12CFB-B0F5-4EAF-8B14-97365CB23683}"/>
              </a:ext>
            </a:extLst>
          </p:cNvPr>
          <p:cNvSpPr>
            <a:spLocks noGrp="1"/>
          </p:cNvSpPr>
          <p:nvPr/>
        </p:nvSpPr>
        <p:spPr>
          <a:xfrm>
            <a:off x="3714750" y="56578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Due demo correlate, oggi autonome</a:t>
            </a:r>
          </a:p>
        </p:txBody>
      </p:sp>
    </p:spTree>
    <p:extLst>
      <p:ext uri="{BB962C8B-B14F-4D97-AF65-F5344CB8AC3E}">
        <p14:creationId xmlns:p14="http://schemas.microsoft.com/office/powerpoint/2010/main" val="15810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2FC0467-07B4-4EF4-99BE-B8D119AEE6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Due demo, una stessa visione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5D472A-FFE0-4504-922B-2A81E1C66951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Oggi si mostrano separatamente. Il collegamento è il passo successivo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E9717F-ED0C-45A1-B9E0-5203CA0A6B02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D1A674-FAA7-4EAE-A290-FC1BA6B57C4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476750" cy="3048000"/>
          </a:xfrm>
          <a:prstGeom prst="roundRect">
            <a:avLst>
              <a:gd name="adj" fmla="val 7500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50E880-32D8-4870-AF42-B7C9CB268C64}"/>
              </a:ext>
            </a:extLst>
          </p:cNvPr>
          <p:cNvSpPr>
            <a:spLocks noGrp="1"/>
          </p:cNvSpPr>
          <p:nvPr/>
        </p:nvSpPr>
        <p:spPr>
          <a:xfrm>
            <a:off x="7029450" y="1952625"/>
            <a:ext cx="4476750" cy="3048000"/>
          </a:xfrm>
          <a:prstGeom prst="roundRect">
            <a:avLst>
              <a:gd name="adj" fmla="val 7500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8825" y="2324100"/>
            <a:ext cx="1156100" cy="228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A760A5-23EB-4EE0-8631-20EBA12813DA}"/>
              </a:ext>
            </a:extLst>
          </p:cNvPr>
          <p:cNvSpPr>
            <a:spLocks noGrp="1"/>
          </p:cNvSpPr>
          <p:nvPr/>
        </p:nvSpPr>
        <p:spPr>
          <a:xfrm>
            <a:off x="2571750" y="2343150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 dirty="0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Portale </a:t>
            </a:r>
            <a:r>
              <a:rPr lang="it-IT" sz="2250" b="1" dirty="0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Web</a:t>
            </a:r>
            <a:endParaRPr sz="2250" b="1" dirty="0">
              <a:solidFill>
                <a:srgbClr val="0757A6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29562F-E30D-4D8A-A628-773D0D18003F}"/>
              </a:ext>
            </a:extLst>
          </p:cNvPr>
          <p:cNvSpPr>
            <a:spLocks noGrp="1"/>
          </p:cNvSpPr>
          <p:nvPr/>
        </p:nvSpPr>
        <p:spPr>
          <a:xfrm>
            <a:off x="2571750" y="2971800"/>
            <a:ext cx="223837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Esperienza cittadino</a:t>
            </a: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Servizi e area personale</a:t>
            </a: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AI conversazionale e multimodale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25435" y="2324100"/>
            <a:ext cx="1151129" cy="2286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1DE22E-5A2D-4B81-ACAE-F766F7FEE736}"/>
              </a:ext>
            </a:extLst>
          </p:cNvPr>
          <p:cNvSpPr>
            <a:spLocks noGrp="1"/>
          </p:cNvSpPr>
          <p:nvPr/>
        </p:nvSpPr>
        <p:spPr>
          <a:xfrm>
            <a:off x="8858250" y="2343150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238F4C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>
                <a:solidFill>
                  <a:srgbClr val="238F4C"/>
                </a:solidFill>
                <a:latin typeface="Arial Rounded MT Bold"/>
                <a:ea typeface="Arial Rounded MT Bold"/>
                <a:cs typeface="Arial Rounded MT Bold"/>
              </a:rPr>
              <a:t>Copilot Studio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70187-4D18-4F8A-8489-72FDC1155C61}"/>
              </a:ext>
            </a:extLst>
          </p:cNvPr>
          <p:cNvSpPr>
            <a:spLocks noGrp="1"/>
          </p:cNvSpPr>
          <p:nvPr/>
        </p:nvSpPr>
        <p:spPr>
          <a:xfrm>
            <a:off x="8858250" y="2971800"/>
            <a:ext cx="223837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Esperienza ufficio</a:t>
            </a: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Agente e classificazione</a:t>
            </a: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Workflow e risposte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28B718-E959-4170-B89A-AEE26B819C18}"/>
              </a:ext>
            </a:extLst>
          </p:cNvPr>
          <p:cNvSpPr>
            <a:spLocks noGrp="1"/>
          </p:cNvSpPr>
          <p:nvPr/>
        </p:nvSpPr>
        <p:spPr>
          <a:xfrm>
            <a:off x="5467350" y="2895600"/>
            <a:ext cx="1257300" cy="914400"/>
          </a:xfrm>
          <a:prstGeom prst="roundRect">
            <a:avLst>
              <a:gd name="adj" fmla="val 18750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BA5CA4-B5FA-4CC4-81B3-97B5F522CEBD}"/>
              </a:ext>
            </a:extLst>
          </p:cNvPr>
          <p:cNvSpPr>
            <a:spLocks noGrp="1"/>
          </p:cNvSpPr>
          <p:nvPr/>
        </p:nvSpPr>
        <p:spPr>
          <a:xfrm>
            <a:off x="5591175" y="3105150"/>
            <a:ext cx="10096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4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OGGI</a:t>
            </a:r>
          </a:p>
          <a:p>
            <a:pPr algn="ctr">
              <a:lnSpc>
                <a:spcPct val="106000"/>
              </a:lnSpc>
              <a:buNone/>
              <a:defRPr sz="14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4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SEPARATE</a:t>
            </a:r>
          </a:p>
        </p:txBody>
      </p:sp>
      <p:cxnSp>
        <p:nvCxnSpPr>
          <p:cNvPr id="32" name="Straight Arrow Connector 31"/>
          <p:cNvCxnSpPr>
            <a:stCxn id="4" idx="3"/>
            <a:endCxn id="12" idx="1"/>
          </p:cNvCxnSpPr>
          <p:nvPr/>
        </p:nvCxnSpPr>
        <p:spPr>
          <a:xfrm flipV="1">
            <a:off x="5162550" y="3352800"/>
            <a:ext cx="304800" cy="123825"/>
          </a:xfrm>
          <a:prstGeom prst="straightConnector1">
            <a:avLst/>
          </a:prstGeom>
          <a:ln w="28575">
            <a:solidFill>
              <a:srgbClr val="0E1726"/>
            </a:solidFill>
            <a:prstDash val="dash"/>
          </a:ln>
        </p:spPr>
      </p:cxnSp>
      <p:cxnSp>
        <p:nvCxnSpPr>
          <p:cNvPr id="33" name="Straight Arrow Connector 32"/>
          <p:cNvCxnSpPr>
            <a:stCxn id="12" idx="3"/>
            <a:endCxn id="5" idx="1"/>
          </p:cNvCxnSpPr>
          <p:nvPr/>
        </p:nvCxnSpPr>
        <p:spPr>
          <a:xfrm>
            <a:off x="6724650" y="3352800"/>
            <a:ext cx="304800" cy="123825"/>
          </a:xfrm>
          <a:prstGeom prst="straightConnector1">
            <a:avLst/>
          </a:prstGeom>
          <a:ln w="28575">
            <a:solidFill>
              <a:srgbClr val="0E1726"/>
            </a:solidFill>
            <a:prstDash val="dash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EC13514-7FF5-4FCE-9DC0-F5A93ED691C2}"/>
              </a:ext>
            </a:extLst>
          </p:cNvPr>
          <p:cNvSpPr>
            <a:spLocks noGrp="1"/>
          </p:cNvSpPr>
          <p:nvPr/>
        </p:nvSpPr>
        <p:spPr>
          <a:xfrm>
            <a:off x="1619250" y="542925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Visione comune: continuità tra richiesta, presa in carico e comunicazione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A93EDF-4B82-4548-9070-87E25DBB78B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334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Villa di Naon: Comune, persone, servizi e dati completamente fittizi</a:t>
            </a:r>
          </a:p>
        </p:txBody>
      </p:sp>
    </p:spTree>
    <p:extLst>
      <p:ext uri="{BB962C8B-B14F-4D97-AF65-F5344CB8AC3E}">
        <p14:creationId xmlns:p14="http://schemas.microsoft.com/office/powerpoint/2010/main" val="117414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4938F2B-7D7F-46D7-9EC8-4DE9A8EFB58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L'applicazione come sportello dimostrativo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0E896B-3A5C-40BB-97DC-C60A6B0BB943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Sei servizi visibili, dati sintetici e percorsi controllabili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5993CC-6DD9-4375-AA85-209D22B03B70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EFD932-6E43-40EB-806D-8139D1B4B7B0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238375" cy="1314450"/>
          </a:xfrm>
          <a:prstGeom prst="roundRect">
            <a:avLst>
              <a:gd name="adj" fmla="val 15942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123F7-A776-46B1-9EE1-C2677E809358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1  Esigenza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8C0AB3-818C-41C5-B61C-0428CB4E544D}"/>
              </a:ext>
            </a:extLst>
          </p:cNvPr>
          <p:cNvSpPr>
            <a:spLocks noGrp="1"/>
          </p:cNvSpPr>
          <p:nvPr/>
        </p:nvSpPr>
        <p:spPr>
          <a:xfrm>
            <a:off x="1000125" y="29146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web, chat o voce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CC04F2-8C69-431C-94E4-213C289A2856}"/>
              </a:ext>
            </a:extLst>
          </p:cNvPr>
          <p:cNvSpPr>
            <a:spLocks noGrp="1"/>
          </p:cNvSpPr>
          <p:nvPr/>
        </p:nvSpPr>
        <p:spPr>
          <a:xfrm>
            <a:off x="3581400" y="2190750"/>
            <a:ext cx="2238375" cy="1314450"/>
          </a:xfrm>
          <a:prstGeom prst="roundRect">
            <a:avLst>
              <a:gd name="adj" fmla="val 15942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FE821C-8CC6-4DBB-9F22-D4E6AEEE31F9}"/>
              </a:ext>
            </a:extLst>
          </p:cNvPr>
          <p:cNvSpPr>
            <a:spLocks noGrp="1"/>
          </p:cNvSpPr>
          <p:nvPr/>
        </p:nvSpPr>
        <p:spPr>
          <a:xfrm>
            <a:off x="3857625" y="2381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2  Servizio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2E6D3F-C420-4964-B9D8-5CFACE2F6736}"/>
              </a:ext>
            </a:extLst>
          </p:cNvPr>
          <p:cNvSpPr>
            <a:spLocks noGrp="1"/>
          </p:cNvSpPr>
          <p:nvPr/>
        </p:nvSpPr>
        <p:spPr>
          <a:xfrm>
            <a:off x="3762375" y="2914650"/>
            <a:ext cx="18859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percorso riconosciuto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E9A0CB-AC46-4205-A910-8531276231E6}"/>
              </a:ext>
            </a:extLst>
          </p:cNvPr>
          <p:cNvSpPr>
            <a:spLocks noGrp="1"/>
          </p:cNvSpPr>
          <p:nvPr/>
        </p:nvSpPr>
        <p:spPr>
          <a:xfrm>
            <a:off x="6438900" y="2190750"/>
            <a:ext cx="2238375" cy="1314450"/>
          </a:xfrm>
          <a:prstGeom prst="roundRect">
            <a:avLst>
              <a:gd name="adj" fmla="val 15942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A7983C-C240-4731-87C4-99C5696E90CF}"/>
              </a:ext>
            </a:extLst>
          </p:cNvPr>
          <p:cNvSpPr>
            <a:spLocks noGrp="1"/>
          </p:cNvSpPr>
          <p:nvPr/>
        </p:nvSpPr>
        <p:spPr>
          <a:xfrm>
            <a:off x="6715125" y="2381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3  Bozza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4FAAFA-66D1-45B8-B59D-B9310F46295D}"/>
              </a:ext>
            </a:extLst>
          </p:cNvPr>
          <p:cNvSpPr>
            <a:spLocks noGrp="1"/>
          </p:cNvSpPr>
          <p:nvPr/>
        </p:nvSpPr>
        <p:spPr>
          <a:xfrm>
            <a:off x="6581775" y="2914650"/>
            <a:ext cx="19812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dati visibili e modificabili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6F241D-34C8-420B-943E-C5DE48CAD49D}"/>
              </a:ext>
            </a:extLst>
          </p:cNvPr>
          <p:cNvSpPr>
            <a:spLocks noGrp="1"/>
          </p:cNvSpPr>
          <p:nvPr/>
        </p:nvSpPr>
        <p:spPr>
          <a:xfrm>
            <a:off x="9296400" y="2190750"/>
            <a:ext cx="2238375" cy="1314450"/>
          </a:xfrm>
          <a:prstGeom prst="roundRect">
            <a:avLst>
              <a:gd name="adj" fmla="val 15942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EF31B-3E0E-4520-9C7F-49BC649C28C8}"/>
              </a:ext>
            </a:extLst>
          </p:cNvPr>
          <p:cNvSpPr>
            <a:spLocks noGrp="1"/>
          </p:cNvSpPr>
          <p:nvPr/>
        </p:nvSpPr>
        <p:spPr>
          <a:xfrm>
            <a:off x="9572625" y="2381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4  Invio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691C16-8301-4B19-9A38-17343C6B0EBC}"/>
              </a:ext>
            </a:extLst>
          </p:cNvPr>
          <p:cNvSpPr>
            <a:spLocks noGrp="1"/>
          </p:cNvSpPr>
          <p:nvPr/>
        </p:nvSpPr>
        <p:spPr>
          <a:xfrm>
            <a:off x="9439275" y="2914650"/>
            <a:ext cx="19812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riferimento tracciabile</a:t>
            </a:r>
          </a:p>
        </p:txBody>
      </p:sp>
      <p:cxnSp>
        <p:nvCxnSpPr>
          <p:cNvPr id="42" name="Straight Arrow Connector 41"/>
          <p:cNvCxnSpPr>
            <a:stCxn id="4" idx="3"/>
            <a:endCxn id="7" idx="1"/>
          </p:cNvCxnSpPr>
          <p:nvPr/>
        </p:nvCxnSpPr>
        <p:spPr>
          <a:xfrm>
            <a:off x="2962275" y="2847975"/>
            <a:ext cx="61912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43" name="Straight Arrow Connector 42"/>
          <p:cNvCxnSpPr>
            <a:stCxn id="7" idx="3"/>
            <a:endCxn id="10" idx="1"/>
          </p:cNvCxnSpPr>
          <p:nvPr/>
        </p:nvCxnSpPr>
        <p:spPr>
          <a:xfrm>
            <a:off x="5819775" y="2847975"/>
            <a:ext cx="61912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44" name="Straight Arrow Connector 43"/>
          <p:cNvCxnSpPr>
            <a:stCxn id="10" idx="3"/>
            <a:endCxn id="13" idx="1"/>
          </p:cNvCxnSpPr>
          <p:nvPr/>
        </p:nvCxnSpPr>
        <p:spPr>
          <a:xfrm>
            <a:off x="8677275" y="2847975"/>
            <a:ext cx="61912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1246AFC-31CC-40A4-948A-86AFFFF924CC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CIE e appuntamenti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183CB2-4210-427C-90D7-E867DDADF2A5}"/>
              </a:ext>
            </a:extLst>
          </p:cNvPr>
          <p:cNvSpPr>
            <a:spLocks noGrp="1"/>
          </p:cNvSpPr>
          <p:nvPr/>
        </p:nvSpPr>
        <p:spPr>
          <a:xfrm>
            <a:off x="3305175" y="430530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TARI e scadenze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CF9B67-D4D7-471D-9A30-17F962E90F21}"/>
              </a:ext>
            </a:extLst>
          </p:cNvPr>
          <p:cNvSpPr>
            <a:spLocks noGrp="1"/>
          </p:cNvSpPr>
          <p:nvPr/>
        </p:nvSpPr>
        <p:spPr>
          <a:xfrm>
            <a:off x="5857875" y="430530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Danno stradale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203FF9-A6C9-4D6C-9806-314F5FBBC423}"/>
              </a:ext>
            </a:extLst>
          </p:cNvPr>
          <p:cNvSpPr>
            <a:spLocks noGrp="1"/>
          </p:cNvSpPr>
          <p:nvPr/>
        </p:nvSpPr>
        <p:spPr>
          <a:xfrm>
            <a:off x="8248650" y="430530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Ritiro verde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C03A74-2C21-4AB5-A14C-B2A3B5EF4DD9}"/>
              </a:ext>
            </a:extLst>
          </p:cNvPr>
          <p:cNvSpPr>
            <a:spLocks noGrp="1"/>
          </p:cNvSpPr>
          <p:nvPr/>
        </p:nvSpPr>
        <p:spPr>
          <a:xfrm>
            <a:off x="10096500" y="4305300"/>
            <a:ext cx="157162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6000"/>
              </a:lnSpc>
              <a:buNone/>
              <a:def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757A6"/>
                </a:solidFill>
                <a:latin typeface="Trebuchet MS"/>
                <a:ea typeface="Trebuchet MS"/>
                <a:cs typeface="Trebuchet MS"/>
              </a:rPr>
              <a:t>Consumi IoT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1C6B3F8-F3EB-48A8-8995-EE3AC16494C6}"/>
              </a:ext>
            </a:extLst>
          </p:cNvPr>
          <p:cNvSpPr>
            <a:spLocks noGrp="1"/>
          </p:cNvSpPr>
          <p:nvPr/>
        </p:nvSpPr>
        <p:spPr>
          <a:xfrm>
            <a:off x="1371600" y="5219700"/>
            <a:ext cx="9429750" cy="590550"/>
          </a:xfrm>
          <a:prstGeom prst="roundRect">
            <a:avLst>
              <a:gd name="adj" fmla="val 29032"/>
            </a:avLst>
          </a:prstGeom>
          <a:solidFill>
            <a:srgbClr val="F3EBDD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La demo rende evidente cosa propone l'AI e cosa conferma il cittadino.</a:t>
            </a:r>
          </a:p>
        </p:txBody>
      </p:sp>
    </p:spTree>
    <p:extLst>
      <p:ext uri="{BB962C8B-B14F-4D97-AF65-F5344CB8AC3E}">
        <p14:creationId xmlns:p14="http://schemas.microsoft.com/office/powerpoint/2010/main" val="495664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96D64E-9D8F-40C2-8F70-6E82F448B55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Ralf: la chat come ingresso ai servizi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16A864-BCEC-475B-99A4-0D1ADC6AF2CC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La conversazione orienta. Il cittadino mantiene il controllo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7EDC98-6DE8-4EBF-8338-67F0D5AA7CD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6236" y="1809750"/>
            <a:ext cx="1944278" cy="40005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C05C74-1BE9-473D-850B-62EB8DC415A0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5476875" cy="781050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«Ho una buca davanti casa»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E22189-45AD-4ACD-869A-2A96F3D974DD}"/>
              </a:ext>
            </a:extLst>
          </p:cNvPr>
          <p:cNvSpPr>
            <a:spLocks noGrp="1"/>
          </p:cNvSpPr>
          <p:nvPr/>
        </p:nvSpPr>
        <p:spPr>
          <a:xfrm>
            <a:off x="2095500" y="3295650"/>
            <a:ext cx="5476875" cy="1381125"/>
          </a:xfrm>
          <a:prstGeom prst="roundRect">
            <a:avLst>
              <a:gd name="adj" fmla="val 15172"/>
            </a:avLst>
          </a:prstGeom>
          <a:solidFill>
            <a:srgbClr val="FFD43B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l">
              <a:lnSpc>
                <a:spcPct val="106000"/>
              </a:lnSpc>
              <a:buNone/>
              <a:defRPr sz="20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Ho riconosciuto il servizio</a:t>
            </a:r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Segnala danno stradale.</a:t>
            </a:r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Vuoi aprire il percorso?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F6B698-15DA-420E-A0BD-DEAC564C1241}"/>
              </a:ext>
            </a:extLst>
          </p:cNvPr>
          <p:cNvSpPr>
            <a:spLocks noGrp="1"/>
          </p:cNvSpPr>
          <p:nvPr/>
        </p:nvSpPr>
        <p:spPr>
          <a:xfrm>
            <a:off x="971550" y="5143500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Prima della navigazione Ralf dichiara il servizio riconosciuto e chiede conferma.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2A77AF-B126-48F3-99B9-8BD1715CB70D}"/>
              </a:ext>
            </a:extLst>
          </p:cNvPr>
          <p:cNvSpPr>
            <a:spLocks noGrp="1"/>
          </p:cNvSpPr>
          <p:nvPr/>
        </p:nvSpPr>
        <p:spPr>
          <a:xfrm>
            <a:off x="3790950" y="4714875"/>
            <a:ext cx="223837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sì / no / annulla</a:t>
            </a:r>
          </a:p>
        </p:txBody>
      </p:sp>
    </p:spTree>
    <p:extLst>
      <p:ext uri="{BB962C8B-B14F-4D97-AF65-F5344CB8AC3E}">
        <p14:creationId xmlns:p14="http://schemas.microsoft.com/office/powerpoint/2010/main" val="995351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635CD3B-D770-406A-BE1D-050B604D251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Voce e immagini diventano dati da verificare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522EDA-310E-4409-8ED8-4578E4BC1AF3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Multimodale significa combinare segnali diversi, senza togliere controllo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67F2DF-BA85-41BC-8758-BDA1690EC1B1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29409"/>
            <a:ext cx="2476500" cy="367548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BF1E73-4EE7-492C-8590-8354C04B2350}"/>
              </a:ext>
            </a:extLst>
          </p:cNvPr>
          <p:cNvSpPr>
            <a:spLocks noGrp="1"/>
          </p:cNvSpPr>
          <p:nvPr/>
        </p:nvSpPr>
        <p:spPr>
          <a:xfrm>
            <a:off x="3524250" y="2095500"/>
            <a:ext cx="3333750" cy="1666875"/>
          </a:xfrm>
          <a:prstGeom prst="roundRect">
            <a:avLst>
              <a:gd name="adj" fmla="val 12571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D1C2D4-C5A2-4325-A1D6-89BDD0F4C42C}"/>
              </a:ext>
            </a:extLst>
          </p:cNvPr>
          <p:cNvSpPr>
            <a:spLocks noGrp="1"/>
          </p:cNvSpPr>
          <p:nvPr/>
        </p:nvSpPr>
        <p:spPr>
          <a:xfrm>
            <a:off x="3810000" y="232410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VOCE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DC0D4B-F86E-4C0E-8D0D-DC4AA55723A8}"/>
              </a:ext>
            </a:extLst>
          </p:cNvPr>
          <p:cNvSpPr>
            <a:spLocks noGrp="1"/>
          </p:cNvSpPr>
          <p:nvPr/>
        </p:nvSpPr>
        <p:spPr>
          <a:xfrm>
            <a:off x="3810000" y="2781300"/>
            <a:ext cx="27622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 dirty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Azure Speech </a:t>
            </a:r>
            <a:r>
              <a:rPr sz="1425" b="0" dirty="0" err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trascrive</a:t>
            </a:r>
            <a:r>
              <a:rPr sz="1425" b="0" dirty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 la </a:t>
            </a:r>
            <a:r>
              <a:rPr sz="1425" b="0" dirty="0" err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descrizione</a:t>
            </a:r>
            <a:r>
              <a:rPr sz="1425" b="0" dirty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. </a:t>
            </a:r>
            <a:r>
              <a:rPr sz="1425" b="0" dirty="0" err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L'audio</a:t>
            </a:r>
            <a:r>
              <a:rPr sz="1425" b="0" dirty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 serve alla </a:t>
            </a:r>
            <a:r>
              <a:rPr sz="1425" b="0" dirty="0" err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trascrizione</a:t>
            </a:r>
            <a:r>
              <a:rPr sz="1425" b="0" dirty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 e la demo non lo </a:t>
            </a:r>
            <a:r>
              <a:rPr sz="1425" b="0" dirty="0" err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conserva</a:t>
            </a:r>
            <a:r>
              <a:rPr sz="1425" b="0" dirty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2EA277-C803-43D3-B3BE-CF85C5CF9A95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3714750" cy="1666875"/>
          </a:xfrm>
          <a:prstGeom prst="roundRect">
            <a:avLst>
              <a:gd name="adj" fmla="val 12571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6B9BD-47A3-4D9F-842E-4B0EEE00C999}"/>
              </a:ext>
            </a:extLst>
          </p:cNvPr>
          <p:cNvSpPr>
            <a:spLocks noGrp="1"/>
          </p:cNvSpPr>
          <p:nvPr/>
        </p:nvSpPr>
        <p:spPr>
          <a:xfrm>
            <a:off x="7810500" y="23241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IMMAGINE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88FEBF-4AD0-445B-B6E9-EC46234EE203}"/>
              </a:ext>
            </a:extLst>
          </p:cNvPr>
          <p:cNvSpPr>
            <a:spLocks noGrp="1"/>
          </p:cNvSpPr>
          <p:nvPr/>
        </p:nvSpPr>
        <p:spPr>
          <a:xfrm>
            <a:off x="7810500" y="2781300"/>
            <a:ext cx="31432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Il modello GPT propone categoria, gravità e area interessata. Il cittadino può correggere.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481314-411A-4BF2-8F91-D5CA0B154473}"/>
              </a:ext>
            </a:extLst>
          </p:cNvPr>
          <p:cNvSpPr>
            <a:spLocks noGrp="1"/>
          </p:cNvSpPr>
          <p:nvPr/>
        </p:nvSpPr>
        <p:spPr>
          <a:xfrm>
            <a:off x="3524250" y="4143375"/>
            <a:ext cx="2333625" cy="104775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2B67F-5C8F-4A4A-9C6C-46B347C1BC4A}"/>
              </a:ext>
            </a:extLst>
          </p:cNvPr>
          <p:cNvSpPr>
            <a:spLocks noGrp="1"/>
          </p:cNvSpPr>
          <p:nvPr/>
        </p:nvSpPr>
        <p:spPr>
          <a:xfrm>
            <a:off x="3733800" y="44005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1. Proposta AI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79B3DA-DADE-4735-8B99-A28910222102}"/>
              </a:ext>
            </a:extLst>
          </p:cNvPr>
          <p:cNvSpPr>
            <a:spLocks noGrp="1"/>
          </p:cNvSpPr>
          <p:nvPr/>
        </p:nvSpPr>
        <p:spPr>
          <a:xfrm>
            <a:off x="6191250" y="4143375"/>
            <a:ext cx="2333625" cy="104775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0AF28-C422-4226-9EAB-2C500118B359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2. Revisione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DBEB04-2E71-42C7-A041-4FAD86E21427}"/>
              </a:ext>
            </a:extLst>
          </p:cNvPr>
          <p:cNvSpPr>
            <a:spLocks noGrp="1"/>
          </p:cNvSpPr>
          <p:nvPr/>
        </p:nvSpPr>
        <p:spPr>
          <a:xfrm>
            <a:off x="8858250" y="4143375"/>
            <a:ext cx="2333625" cy="1047750"/>
          </a:xfrm>
          <a:prstGeom prst="roundRect">
            <a:avLst>
              <a:gd name="adj" fmla="val 16364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F55902-9BB1-4E9C-9A49-CE1C48029D5A}"/>
              </a:ext>
            </a:extLst>
          </p:cNvPr>
          <p:cNvSpPr>
            <a:spLocks noGrp="1"/>
          </p:cNvSpPr>
          <p:nvPr/>
        </p:nvSpPr>
        <p:spPr>
          <a:xfrm>
            <a:off x="9067800" y="44005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3. Conferma</a:t>
            </a:r>
          </a:p>
        </p:txBody>
      </p:sp>
      <p:cxnSp>
        <p:nvCxnSpPr>
          <p:cNvPr id="38" name="Straight Arrow Connector 37"/>
          <p:cNvCxnSpPr>
            <a:stCxn id="11" idx="3"/>
            <a:endCxn id="13" idx="1"/>
          </p:cNvCxnSpPr>
          <p:nvPr/>
        </p:nvCxnSpPr>
        <p:spPr>
          <a:xfrm>
            <a:off x="5857875" y="4667250"/>
            <a:ext cx="33337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39" name="Straight Arrow Connector 38"/>
          <p:cNvCxnSpPr>
            <a:stCxn id="13" idx="3"/>
            <a:endCxn id="15" idx="1"/>
          </p:cNvCxnSpPr>
          <p:nvPr/>
        </p:nvCxnSpPr>
        <p:spPr>
          <a:xfrm>
            <a:off x="8524875" y="4667250"/>
            <a:ext cx="333375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F383665-68FD-495F-9789-E348CC03B668}"/>
              </a:ext>
            </a:extLst>
          </p:cNvPr>
          <p:cNvSpPr>
            <a:spLocks noGrp="1"/>
          </p:cNvSpPr>
          <p:nvPr/>
        </p:nvSpPr>
        <p:spPr>
          <a:xfrm>
            <a:off x="3905250" y="5572125"/>
            <a:ext cx="70008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B63C33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B63C33"/>
                </a:solidFill>
                <a:latin typeface="Trebuchet MS"/>
                <a:ea typeface="Trebuchet MS"/>
                <a:cs typeface="Trebuchet MS"/>
              </a:rPr>
              <a:t>La posizione GPS resta simulata e separata dall'analisi della foto.</a:t>
            </a:r>
          </a:p>
        </p:txBody>
      </p:sp>
    </p:spTree>
    <p:extLst>
      <p:ext uri="{BB962C8B-B14F-4D97-AF65-F5344CB8AC3E}">
        <p14:creationId xmlns:p14="http://schemas.microsoft.com/office/powerpoint/2010/main" val="945905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8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513E25-4DBA-47A9-B760-43800ABE46B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FFD43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FD43B"/>
                </a:solidFill>
                <a:latin typeface="Arial Rounded MT Bold"/>
                <a:ea typeface="Arial Rounded MT Bold"/>
                <a:cs typeface="Arial Rounded MT Bold"/>
              </a:rPr>
              <a:t>Seconda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31C24F-355B-4393-AC87-8B8B3DD851D3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6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6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Copilot Studio e i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9AE2B-37AB-4BEE-9C74-E1A96374F01C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10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Un agente di back office può leggere una richiesta, applicare istruzioni, scegliere un flusso e preparare una comunicazione.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78959" y="1428750"/>
            <a:ext cx="2206331" cy="43815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FCA84B-4CAD-48E7-B65C-D67929FFE258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1524000" cy="3619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AGENTE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C08D79-E1EC-440E-8B88-FAB07262FB21}"/>
              </a:ext>
            </a:extLst>
          </p:cNvPr>
          <p:cNvSpPr>
            <a:spLocks noGrp="1"/>
          </p:cNvSpPr>
          <p:nvPr/>
        </p:nvSpPr>
        <p:spPr>
          <a:xfrm>
            <a:off x="2714625" y="39052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WORKFLOW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B1C25C-AC11-428A-B365-6F7F7FA06666}"/>
              </a:ext>
            </a:extLst>
          </p:cNvPr>
          <p:cNvSpPr>
            <a:spLocks noGrp="1"/>
          </p:cNvSpPr>
          <p:nvPr/>
        </p:nvSpPr>
        <p:spPr>
          <a:xfrm>
            <a:off x="4857750" y="3905250"/>
            <a:ext cx="1524000" cy="361950"/>
          </a:xfrm>
          <a:prstGeom prst="roundRect">
            <a:avLst>
              <a:gd name="adj" fmla="val 50000"/>
            </a:avLst>
          </a:prstGeom>
          <a:solidFill>
            <a:srgbClr val="DCEFFF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TRACCIA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B43524-FF78-4CA4-8457-B8A1B7AC82A4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6096000" cy="666750"/>
          </a:xfrm>
          <a:prstGeom prst="roundRect">
            <a:avLst>
              <a:gd name="adj" fmla="val 25714"/>
            </a:avLst>
          </a:prstGeom>
          <a:solidFill>
            <a:srgbClr val="0757A6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Demo autonoma: al momento non riceve eventi dall'app Blazor.</a:t>
            </a:r>
          </a:p>
        </p:txBody>
      </p:sp>
    </p:spTree>
    <p:extLst>
      <p:ext uri="{BB962C8B-B14F-4D97-AF65-F5344CB8AC3E}">
        <p14:creationId xmlns:p14="http://schemas.microsoft.com/office/powerpoint/2010/main" val="608363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9405CC7-4AB1-4CC1-9E81-10F035F9DB3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Il workflow dell'agente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D6E3A3-F87B-4B31-9D75-8AF8CEDB8A33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Dalla richiesta a una risposta controllata e tracciabile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8E4482-2468-431C-8022-34FB4864DB9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42094" y="1952625"/>
            <a:ext cx="2118312" cy="376237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02511D-6B8D-4E4A-8BC0-4C993A1B20D1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135FB3-438C-4B0E-A3DE-F8A84CA920FD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1638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Evento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0CAC2-F052-4B09-AC40-437B43BAEFE0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richiesta in ingresso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99AEC1-C0B1-41F4-B204-AEB3CD1CDDD1}"/>
              </a:ext>
            </a:extLst>
          </p:cNvPr>
          <p:cNvSpPr>
            <a:spLocks noGrp="1"/>
          </p:cNvSpPr>
          <p:nvPr/>
        </p:nvSpPr>
        <p:spPr>
          <a:xfrm>
            <a:off x="3371850" y="2190750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0E65C2-ADAC-4084-93C4-57597706DA6D}"/>
              </a:ext>
            </a:extLst>
          </p:cNvPr>
          <p:cNvSpPr>
            <a:spLocks noGrp="1"/>
          </p:cNvSpPr>
          <p:nvPr/>
        </p:nvSpPr>
        <p:spPr>
          <a:xfrm>
            <a:off x="3600450" y="2400300"/>
            <a:ext cx="1638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Agente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0D5457-CBD3-4229-8634-3DEB058A99F2}"/>
              </a:ext>
            </a:extLst>
          </p:cNvPr>
          <p:cNvSpPr>
            <a:spLocks noGrp="1"/>
          </p:cNvSpPr>
          <p:nvPr/>
        </p:nvSpPr>
        <p:spPr>
          <a:xfrm>
            <a:off x="3600450" y="29527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classifica e prepara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5E3021-2EBF-49F8-AC98-5C4A1292F8DC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20AF6-D17F-4FD3-AA49-F0DC88F3B4DB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38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4ECD73-FCB1-4E53-928B-714CB23A1E80}"/>
              </a:ext>
            </a:extLst>
          </p:cNvPr>
          <p:cNvSpPr>
            <a:spLocks noGrp="1"/>
          </p:cNvSpPr>
          <p:nvPr/>
        </p:nvSpPr>
        <p:spPr>
          <a:xfrm>
            <a:off x="6267450" y="29527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chiama l'azione</a:t>
            </a:r>
          </a:p>
        </p:txBody>
      </p:sp>
      <p:cxnSp>
        <p:nvCxnSpPr>
          <p:cNvPr id="33" name="Straight Arrow Connector 32"/>
          <p:cNvCxnSpPr>
            <a:stCxn id="5" idx="3"/>
            <a:endCxn id="8" idx="1"/>
          </p:cNvCxnSpPr>
          <p:nvPr/>
        </p:nvCxnSpPr>
        <p:spPr>
          <a:xfrm>
            <a:off x="2800350" y="2905125"/>
            <a:ext cx="571500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34" name="Straight Arrow Connector 33"/>
          <p:cNvCxnSpPr>
            <a:stCxn id="8" idx="3"/>
            <a:endCxn id="11" idx="1"/>
          </p:cNvCxnSpPr>
          <p:nvPr/>
        </p:nvCxnSpPr>
        <p:spPr>
          <a:xfrm>
            <a:off x="5467350" y="2905125"/>
            <a:ext cx="571500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50B6510-C9C5-43FA-98A2-417D2B178AB0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Caso demo: sfalci o danno stradale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9DFF9E-E439-438C-870B-05BA438EF9ED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6667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Distingue il tipo di richiesta</a:t>
            </a: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Non inventa esiti o importi</a:t>
            </a: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Prepara un messaggio per il cittadino</a:t>
            </a: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Registra l'esecuzione del flusso</a:t>
            </a:r>
          </a:p>
        </p:txBody>
      </p:sp>
    </p:spTree>
    <p:extLst>
      <p:ext uri="{BB962C8B-B14F-4D97-AF65-F5344CB8AC3E}">
        <p14:creationId xmlns:p14="http://schemas.microsoft.com/office/powerpoint/2010/main" val="1392930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4ABEDB0-0495-411B-8965-10B1AA9A77E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Il collegamento futuro tra le due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20E5D6-B5DD-4378-921F-E53F33191DE8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Scenario di integrazione previsto, non attivo nella dimostrazione attuale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B93E98-CD64-4927-B939-488070C6364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F540DB-4E65-43BD-9D2C-50DED0D64E36}"/>
              </a:ext>
            </a:extLst>
          </p:cNvPr>
          <p:cNvSpPr>
            <a:spLocks noGrp="1"/>
          </p:cNvSpPr>
          <p:nvPr/>
        </p:nvSpPr>
        <p:spPr>
          <a:xfrm>
            <a:off x="9620250" y="495300"/>
            <a:ext cx="1619250" cy="3619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ROADMAP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583FA1-AF74-490E-B5F0-51C802B1D78A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809750" cy="13811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EE023-0046-49B5-A2B4-6C360D73BA95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Portale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A7BD9B-68C3-47DB-B935-FD9BE3740280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14668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pratica o appuntamento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A306E0-2266-4297-A978-E3DE86D811D1}"/>
              </a:ext>
            </a:extLst>
          </p:cNvPr>
          <p:cNvSpPr>
            <a:spLocks noGrp="1"/>
          </p:cNvSpPr>
          <p:nvPr/>
        </p:nvSpPr>
        <p:spPr>
          <a:xfrm>
            <a:off x="2990850" y="2333625"/>
            <a:ext cx="1809750" cy="1381125"/>
          </a:xfrm>
          <a:prstGeom prst="roundRect">
            <a:avLst>
              <a:gd name="adj" fmla="val 13793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E0857-CD6F-4910-835F-73CB20E3159A}"/>
              </a:ext>
            </a:extLst>
          </p:cNvPr>
          <p:cNvSpPr>
            <a:spLocks noGrp="1"/>
          </p:cNvSpPr>
          <p:nvPr/>
        </p:nvSpPr>
        <p:spPr>
          <a:xfrm>
            <a:off x="3181350" y="25527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Evento JSON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050C1-7E68-4676-85E6-A1419139BCC6}"/>
              </a:ext>
            </a:extLst>
          </p:cNvPr>
          <p:cNvSpPr>
            <a:spLocks noGrp="1"/>
          </p:cNvSpPr>
          <p:nvPr/>
        </p:nvSpPr>
        <p:spPr>
          <a:xfrm>
            <a:off x="3162300" y="3048000"/>
            <a:ext cx="14668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riferimento e dati minimi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056220-0FC3-4B28-B9EA-20E3AC7637AA}"/>
              </a:ext>
            </a:extLst>
          </p:cNvPr>
          <p:cNvSpPr>
            <a:spLocks noGrp="1"/>
          </p:cNvSpPr>
          <p:nvPr/>
        </p:nvSpPr>
        <p:spPr>
          <a:xfrm>
            <a:off x="5372100" y="2333625"/>
            <a:ext cx="1809750" cy="1381125"/>
          </a:xfrm>
          <a:prstGeom prst="roundRect">
            <a:avLst>
              <a:gd name="adj" fmla="val 13793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80404-22A1-41C1-A8A2-FC18FD6837E5}"/>
              </a:ext>
            </a:extLst>
          </p:cNvPr>
          <p:cNvSpPr>
            <a:spLocks noGrp="1"/>
          </p:cNvSpPr>
          <p:nvPr/>
        </p:nvSpPr>
        <p:spPr>
          <a:xfrm>
            <a:off x="5562600" y="25527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Copilot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B8C1AB-045F-4EF9-A788-5AAF448A3251}"/>
              </a:ext>
            </a:extLst>
          </p:cNvPr>
          <p:cNvSpPr>
            <a:spLocks noGrp="1"/>
          </p:cNvSpPr>
          <p:nvPr/>
        </p:nvSpPr>
        <p:spPr>
          <a:xfrm>
            <a:off x="5543550" y="3048000"/>
            <a:ext cx="14668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agente e workflow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AF45F0-5E6A-481E-B580-489A8C16A05E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1809750" cy="13811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2C5D3B-26BD-4A11-8357-40F972FE3FC6}"/>
              </a:ext>
            </a:extLst>
          </p:cNvPr>
          <p:cNvSpPr>
            <a:spLocks noGrp="1"/>
          </p:cNvSpPr>
          <p:nvPr/>
        </p:nvSpPr>
        <p:spPr>
          <a:xfrm>
            <a:off x="7943850" y="25527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Callback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72B2DC-1E00-41BC-AEF6-8257E685E7F8}"/>
              </a:ext>
            </a:extLst>
          </p:cNvPr>
          <p:cNvSpPr>
            <a:spLocks noGrp="1"/>
          </p:cNvSpPr>
          <p:nvPr/>
        </p:nvSpPr>
        <p:spPr>
          <a:xfrm>
            <a:off x="7924800" y="3048000"/>
            <a:ext cx="14668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API con chiave dedicata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34C894-DFF5-4335-9711-1AD825BB769E}"/>
              </a:ext>
            </a:extLst>
          </p:cNvPr>
          <p:cNvSpPr>
            <a:spLocks noGrp="1"/>
          </p:cNvSpPr>
          <p:nvPr/>
        </p:nvSpPr>
        <p:spPr>
          <a:xfrm>
            <a:off x="10134600" y="2333625"/>
            <a:ext cx="1524000" cy="1381125"/>
          </a:xfrm>
          <a:prstGeom prst="roundRect">
            <a:avLst>
              <a:gd name="adj" fmla="val 13793"/>
            </a:avLst>
          </a:prstGeom>
          <a:solidFill>
            <a:srgbClr val="0757A6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443BB0-2863-4101-AB32-A94991A627AB}"/>
              </a:ext>
            </a:extLst>
          </p:cNvPr>
          <p:cNvSpPr>
            <a:spLocks noGrp="1"/>
          </p:cNvSpPr>
          <p:nvPr/>
        </p:nvSpPr>
        <p:spPr>
          <a:xfrm>
            <a:off x="10296525" y="2552700"/>
            <a:ext cx="12001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72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Messaggio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09F98B-DDFE-43D1-B458-D2230A67839C}"/>
              </a:ext>
            </a:extLst>
          </p:cNvPr>
          <p:cNvSpPr>
            <a:spLocks noGrp="1"/>
          </p:cNvSpPr>
          <p:nvPr/>
        </p:nvSpPr>
        <p:spPr>
          <a:xfrm>
            <a:off x="10296525" y="3048000"/>
            <a:ext cx="12001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casella del cittadino</a:t>
            </a:r>
          </a:p>
        </p:txBody>
      </p:sp>
      <p:cxnSp>
        <p:nvCxnSpPr>
          <p:cNvPr id="47" name="Straight Arrow Connector 46"/>
          <p:cNvCxnSpPr>
            <a:stCxn id="5" idx="3"/>
            <a:endCxn id="8" idx="1"/>
          </p:cNvCxnSpPr>
          <p:nvPr/>
        </p:nvCxnSpPr>
        <p:spPr>
          <a:xfrm>
            <a:off x="2419350" y="3024188"/>
            <a:ext cx="571500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48" name="Straight Arrow Connector 47"/>
          <p:cNvCxnSpPr>
            <a:stCxn id="8" idx="3"/>
            <a:endCxn id="11" idx="1"/>
          </p:cNvCxnSpPr>
          <p:nvPr/>
        </p:nvCxnSpPr>
        <p:spPr>
          <a:xfrm>
            <a:off x="4800600" y="3024188"/>
            <a:ext cx="571500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49" name="Straight Arrow Connector 48"/>
          <p:cNvCxnSpPr>
            <a:stCxn id="11" idx="3"/>
            <a:endCxn id="14" idx="1"/>
          </p:cNvCxnSpPr>
          <p:nvPr/>
        </p:nvCxnSpPr>
        <p:spPr>
          <a:xfrm>
            <a:off x="7181850" y="3024188"/>
            <a:ext cx="571500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cxnSp>
        <p:nvCxnSpPr>
          <p:cNvPr id="50" name="Straight Arrow Connector 49"/>
          <p:cNvCxnSpPr>
            <a:stCxn id="14" idx="3"/>
            <a:endCxn id="17" idx="1"/>
          </p:cNvCxnSpPr>
          <p:nvPr/>
        </p:nvCxnSpPr>
        <p:spPr>
          <a:xfrm>
            <a:off x="9563100" y="3024188"/>
            <a:ext cx="571500" cy="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ECB7ED1-203E-4155-A216-36CFB5A4DFF3}"/>
              </a:ext>
            </a:extLst>
          </p:cNvPr>
          <p:cNvSpPr>
            <a:spLocks noGrp="1"/>
          </p:cNvSpPr>
          <p:nvPr/>
        </p:nvSpPr>
        <p:spPr>
          <a:xfrm>
            <a:off x="1666875" y="4619625"/>
            <a:ext cx="88582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Il riferimento identifica internamente il destinatario. L'agente non sceglie liberamente a chi scrivere.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BA9C3D-8EE7-493A-935D-EB4889D5D988}"/>
              </a:ext>
            </a:extLst>
          </p:cNvPr>
          <p:cNvSpPr>
            <a:spLocks noGrp="1"/>
          </p:cNvSpPr>
          <p:nvPr/>
        </p:nvSpPr>
        <p:spPr>
          <a:xfrm>
            <a:off x="1676400" y="5572125"/>
            <a:ext cx="8858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Prima dell'attivazione: sicurezza, gestione errori, deduplicazione e collaudo end to end.</a:t>
            </a:r>
          </a:p>
        </p:txBody>
      </p:sp>
    </p:spTree>
    <p:extLst>
      <p:ext uri="{BB962C8B-B14F-4D97-AF65-F5344CB8AC3E}">
        <p14:creationId xmlns:p14="http://schemas.microsoft.com/office/powerpoint/2010/main" val="1130001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C0C8C89-AFF1-4D8B-9F00-C4887D7B1D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Un percorso sostenibile per un Comune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507FD5-B013-4E2F-8D95-ADBFBD9B7FFC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C6675"/>
                </a:solidFill>
                <a:latin typeface="Trebuchet MS"/>
                <a:ea typeface="Trebuchet MS"/>
                <a:cs typeface="Trebuchet MS"/>
              </a:rPr>
              <a:t>Partire da un servizio concreto, con criteri di successo osservabili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D84590-C53E-4E69-97C7-A8040442A92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FEC41C-1B08-4E54-8256-11ED9CFB34C4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381250" cy="2476500"/>
          </a:xfrm>
          <a:prstGeom prst="roundRect">
            <a:avLst>
              <a:gd name="adj" fmla="val 9600"/>
            </a:avLst>
          </a:prstGeom>
          <a:solidFill>
            <a:srgbClr val="DCE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EC041-43AC-4765-A971-30EFCA5AA90E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5143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72991-8761-46DC-95AE-740F9BFCC855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18478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Scegliere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2BBFA1-46AD-4219-BB43-EC6C438EDB3F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un servizio con attrito evidente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F358AC-6708-4A5F-91D2-AEA44C98DEB0}"/>
              </a:ext>
            </a:extLst>
          </p:cNvPr>
          <p:cNvSpPr>
            <a:spLocks noGrp="1"/>
          </p:cNvSpPr>
          <p:nvPr/>
        </p:nvSpPr>
        <p:spPr>
          <a:xfrm>
            <a:off x="3524250" y="2019300"/>
            <a:ext cx="2381250" cy="24765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BEF5A-5014-4764-8252-B33F7276036E}"/>
              </a:ext>
            </a:extLst>
          </p:cNvPr>
          <p:cNvSpPr>
            <a:spLocks noGrp="1"/>
          </p:cNvSpPr>
          <p:nvPr/>
        </p:nvSpPr>
        <p:spPr>
          <a:xfrm>
            <a:off x="3733800" y="2209800"/>
            <a:ext cx="5143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794D57-77B3-4694-BD13-58A9C9FC0E9F}"/>
              </a:ext>
            </a:extLst>
          </p:cNvPr>
          <p:cNvSpPr>
            <a:spLocks noGrp="1"/>
          </p:cNvSpPr>
          <p:nvPr/>
        </p:nvSpPr>
        <p:spPr>
          <a:xfrm>
            <a:off x="3790950" y="2933700"/>
            <a:ext cx="18478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Prototipare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02CC6E-B7F2-4A08-A150-E47BE12B383A}"/>
              </a:ext>
            </a:extLst>
          </p:cNvPr>
          <p:cNvSpPr>
            <a:spLocks noGrp="1"/>
          </p:cNvSpPr>
          <p:nvPr/>
        </p:nvSpPr>
        <p:spPr>
          <a:xfrm>
            <a:off x="3810000" y="3486150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con dati sintetici e casi limite</a:t>
            </a:r>
          </a:p>
        </p:txBody>
      </p:sp>
      <p:cxnSp>
        <p:nvCxnSpPr>
          <p:cNvPr id="37" name="Straight Arrow Connector 36"/>
          <p:cNvCxnSpPr>
            <a:stCxn id="4" idx="3"/>
            <a:endCxn id="8" idx="1"/>
          </p:cNvCxnSpPr>
          <p:nvPr/>
        </p:nvCxnSpPr>
        <p:spPr>
          <a:xfrm flipV="1">
            <a:off x="3048000" y="3257550"/>
            <a:ext cx="476250" cy="17145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883D9F-93C9-4DCB-BCCB-B6FF4527D7EA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2381250" cy="2476500"/>
          </a:xfrm>
          <a:prstGeom prst="roundRect">
            <a:avLst>
              <a:gd name="adj" fmla="val 9600"/>
            </a:avLst>
          </a:prstGeom>
          <a:solidFill>
            <a:srgbClr val="FFD43B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AA56FF-A429-4892-BEE0-E3BE6D23B72F}"/>
              </a:ext>
            </a:extLst>
          </p:cNvPr>
          <p:cNvSpPr>
            <a:spLocks noGrp="1"/>
          </p:cNvSpPr>
          <p:nvPr/>
        </p:nvSpPr>
        <p:spPr>
          <a:xfrm>
            <a:off x="6591300" y="2038350"/>
            <a:ext cx="5143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97D98F-D229-4928-8388-D72AD3CB0B0A}"/>
              </a:ext>
            </a:extLst>
          </p:cNvPr>
          <p:cNvSpPr>
            <a:spLocks noGrp="1"/>
          </p:cNvSpPr>
          <p:nvPr/>
        </p:nvSpPr>
        <p:spPr>
          <a:xfrm>
            <a:off x="6648450" y="2762250"/>
            <a:ext cx="18478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Misurare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B25B8C-284F-46F2-8C44-804E7294D5C3}"/>
              </a:ext>
            </a:extLst>
          </p:cNvPr>
          <p:cNvSpPr>
            <a:spLocks noGrp="1"/>
          </p:cNvSpPr>
          <p:nvPr/>
        </p:nvSpPr>
        <p:spPr>
          <a:xfrm>
            <a:off x="6667500" y="3314700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completezza, tempi e correzioni</a:t>
            </a:r>
          </a:p>
        </p:txBody>
      </p:sp>
      <p:cxnSp>
        <p:nvCxnSpPr>
          <p:cNvPr id="42" name="Straight Arrow Connector 41"/>
          <p:cNvCxnSpPr>
            <a:stCxn id="8" idx="3"/>
            <a:endCxn id="13" idx="1"/>
          </p:cNvCxnSpPr>
          <p:nvPr/>
        </p:nvCxnSpPr>
        <p:spPr>
          <a:xfrm flipV="1">
            <a:off x="5905500" y="3086100"/>
            <a:ext cx="476250" cy="17145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DE23425-36F8-4984-9DA5-5E7D6C0247F5}"/>
              </a:ext>
            </a:extLst>
          </p:cNvPr>
          <p:cNvSpPr>
            <a:spLocks noGrp="1"/>
          </p:cNvSpPr>
          <p:nvPr/>
        </p:nvSpPr>
        <p:spPr>
          <a:xfrm>
            <a:off x="9239250" y="1676400"/>
            <a:ext cx="2381250" cy="2476500"/>
          </a:xfrm>
          <a:prstGeom prst="roundRect">
            <a:avLst>
              <a:gd name="adj" fmla="val 9600"/>
            </a:avLst>
          </a:prstGeom>
          <a:solidFill>
            <a:srgbClr val="DDF3E4"/>
          </a:solidFill>
          <a:ln w="28575">
            <a:solidFill>
              <a:srgbClr val="0E172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B321B9-8117-40B1-A7E4-732359A54470}"/>
              </a:ext>
            </a:extLst>
          </p:cNvPr>
          <p:cNvSpPr>
            <a:spLocks noGrp="1"/>
          </p:cNvSpPr>
          <p:nvPr/>
        </p:nvSpPr>
        <p:spPr>
          <a:xfrm>
            <a:off x="9448800" y="1866900"/>
            <a:ext cx="5143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000" b="1">
                <a:solidFill>
                  <a:srgbClr val="0757A6"/>
                </a:solidFill>
                <a:latin typeface="Arial Rounded MT Bold"/>
                <a:ea typeface="Arial Rounded MT Bold"/>
                <a:cs typeface="Arial Rounded MT Bold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DD3B0F-3E8C-485B-9BCD-9B362AE7D632}"/>
              </a:ext>
            </a:extLst>
          </p:cNvPr>
          <p:cNvSpPr>
            <a:spLocks noGrp="1"/>
          </p:cNvSpPr>
          <p:nvPr/>
        </p:nvSpPr>
        <p:spPr>
          <a:xfrm>
            <a:off x="9505950" y="2590800"/>
            <a:ext cx="18478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Estendere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C8FCFC-4FB8-4B77-B0BC-AB27E756588E}"/>
              </a:ext>
            </a:extLst>
          </p:cNvPr>
          <p:cNvSpPr>
            <a:spLocks noGrp="1"/>
          </p:cNvSpPr>
          <p:nvPr/>
        </p:nvSpPr>
        <p:spPr>
          <a:xfrm>
            <a:off x="9525000" y="3143250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solo dopo il collaudo organizzativo</a:t>
            </a:r>
          </a:p>
        </p:txBody>
      </p:sp>
      <p:cxnSp>
        <p:nvCxnSpPr>
          <p:cNvPr id="47" name="Straight Arrow Connector 46"/>
          <p:cNvCxnSpPr>
            <a:stCxn id="13" idx="3"/>
            <a:endCxn id="18" idx="1"/>
          </p:cNvCxnSpPr>
          <p:nvPr/>
        </p:nvCxnSpPr>
        <p:spPr>
          <a:xfrm flipV="1">
            <a:off x="8763000" y="2914650"/>
            <a:ext cx="476250" cy="171450"/>
          </a:xfrm>
          <a:prstGeom prst="straightConnector1">
            <a:avLst/>
          </a:prstGeom>
          <a:ln w="28575">
            <a:solidFill>
              <a:srgbClr val="0E1726"/>
            </a:solidFill>
            <a:prstDash val="solid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94A4BBF-5132-4BE8-A05B-E673DBEA6D4C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E1726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0E1726"/>
                </a:solidFill>
                <a:latin typeface="Trebuchet MS"/>
                <a:ea typeface="Trebuchet MS"/>
                <a:cs typeface="Trebuchet MS"/>
              </a:rPr>
              <a:t>Indicatori utili: richieste complete, passaggi evitati, correzioni richieste, tempo di presa in carico.</a:t>
            </a:r>
          </a:p>
        </p:txBody>
      </p:sp>
    </p:spTree>
    <p:extLst>
      <p:ext uri="{BB962C8B-B14F-4D97-AF65-F5344CB8AC3E}">
        <p14:creationId xmlns:p14="http://schemas.microsoft.com/office/powerpoint/2010/main" val="632069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1976438"/>
            <a:ext cx="5429250" cy="27146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F8EFBF-9A36-4752-8951-639E96C735F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725" b="1">
                <a:solidFill>
                  <a:srgbClr val="FFD43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725" b="1">
                <a:solidFill>
                  <a:srgbClr val="FFD43B"/>
                </a:solidFill>
                <a:latin typeface="Arial Rounded MT Bold"/>
                <a:ea typeface="Arial Rounded MT Bold"/>
                <a:cs typeface="Arial Rounded MT Bold"/>
              </a:rPr>
              <a:t>La domanda finale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838696-341E-4194-9A03-69672BDC1384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5524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8000"/>
              </a:lnSpc>
              <a:buNone/>
              <a:defRPr sz="39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9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Da quale servizio</a:t>
            </a:r>
          </a:p>
          <a:p>
            <a:pPr algn="l">
              <a:lnSpc>
                <a:spcPct val="98000"/>
              </a:lnSpc>
              <a:buNone/>
              <a:defRPr sz="39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9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concreto partire?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18AFA-260A-4017-99FC-DC8532F4F7DD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49530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9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Un servizio circoscritto permette di valutare utilità, rischi e impatto organizzativo prima di estendere il modello.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B44155-5F5A-4FB3-AA01-1CC54615F793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2762250" cy="3619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9050">
            <a:solidFill>
              <a:srgbClr val="0E1726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0E1726"/>
                </a:solidFill>
                <a:latin typeface="Arial Rounded MT Bold"/>
                <a:ea typeface="Arial Rounded MT Bold"/>
                <a:cs typeface="Arial Rounded MT Bold"/>
              </a:rPr>
              <a:t>DEMO, NON ENTE REALE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213A8-E167-4461-9C06-4AA8ADF85133}"/>
              </a:ext>
            </a:extLst>
          </p:cNvPr>
          <p:cNvSpPr>
            <a:spLocks noGrp="1"/>
          </p:cNvSpPr>
          <p:nvPr/>
        </p:nvSpPr>
        <p:spPr>
          <a:xfrm>
            <a:off x="723900" y="592455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Villa di Naon è un Comune fittizio. Tutti i dati e gli scenari sono dimostrativi.</a:t>
            </a:r>
          </a:p>
        </p:txBody>
      </p:sp>
    </p:spTree>
    <p:extLst>
      <p:ext uri="{BB962C8B-B14F-4D97-AF65-F5344CB8AC3E}">
        <p14:creationId xmlns:p14="http://schemas.microsoft.com/office/powerpoint/2010/main" val="11449365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1712</Words>
  <Application>Microsoft Office PowerPoint</Application>
  <DocSecurity>0</DocSecurity>
  <PresentationFormat>Widescreen</PresentationFormat>
  <Paragraphs>246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Rounded MT Bold</vt:lpstr>
      <vt:lpstr>Calibri</vt:lpstr>
      <vt:lpstr>Segoe Print</vt:lpstr>
      <vt:lpstr>Trebuchet MS</vt:lpstr>
      <vt:lpstr>Wingdings</vt:lpstr>
      <vt:lpstr>ChatGPT</vt:lpstr>
      <vt:lpstr>PowerPoint Presentation</vt:lpstr>
      <vt:lpstr>PowerPoint Presentation</vt:lpstr>
      <vt:lpstr>PowerPoint Presentation</vt:lpstr>
      <vt:lpstr>Alcuni spunti di riflessione</vt:lpstr>
      <vt:lpstr>Una moderna famiglia media italiana  (4 persone)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Marco Parenzan</cp:lastModifiedBy>
  <cp:revision>25</cp:revision>
  <dcterms:created xsi:type="dcterms:W3CDTF">2026-09-24T18:33:54Z</dcterms:created>
  <dcterms:modified xsi:type="dcterms:W3CDTF">2026-09-25T12:31:11Z</dcterms:modified>
</cp:coreProperties>
</file>